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78" r:id="rId3"/>
    <p:sldId id="277" r:id="rId4"/>
    <p:sldId id="257" r:id="rId5"/>
    <p:sldId id="259" r:id="rId6"/>
    <p:sldId id="271" r:id="rId7"/>
    <p:sldId id="260" r:id="rId8"/>
    <p:sldId id="272" r:id="rId9"/>
    <p:sldId id="261" r:id="rId10"/>
    <p:sldId id="280" r:id="rId11"/>
    <p:sldId id="279" r:id="rId12"/>
    <p:sldId id="262" r:id="rId13"/>
    <p:sldId id="263" r:id="rId14"/>
    <p:sldId id="265" r:id="rId15"/>
    <p:sldId id="266" r:id="rId16"/>
    <p:sldId id="267" r:id="rId17"/>
    <p:sldId id="268" r:id="rId18"/>
    <p:sldId id="270" r:id="rId19"/>
    <p:sldId id="275" r:id="rId20"/>
    <p:sldId id="276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A85504-C521-4DD9-9A05-5271214AADD0}" type="doc">
      <dgm:prSet loTypeId="urn:microsoft.com/office/officeart/2005/8/layout/vList2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pt-PT"/>
        </a:p>
      </dgm:t>
    </dgm:pt>
    <dgm:pt modelId="{1577EC34-EE7B-4997-8C69-D1D5C27D8E45}">
      <dgm:prSet custT="1"/>
      <dgm:spPr/>
      <dgm:t>
        <a:bodyPr/>
        <a:lstStyle/>
        <a:p>
          <a:pPr algn="ctr" rtl="0"/>
          <a:r>
            <a:rPr lang="pt-PT" sz="3200" b="1" i="1" dirty="0"/>
            <a:t>Psiqué </a:t>
          </a:r>
          <a:r>
            <a:rPr lang="pt-PT" sz="3200" b="1" dirty="0"/>
            <a:t>+ </a:t>
          </a:r>
          <a:r>
            <a:rPr lang="pt-PT" sz="3200" b="1" i="1" dirty="0"/>
            <a:t>logos </a:t>
          </a:r>
          <a:endParaRPr lang="pt-PT" sz="3200" b="1" dirty="0"/>
        </a:p>
      </dgm:t>
    </dgm:pt>
    <dgm:pt modelId="{E315660E-E755-4AE5-A3A7-89C6F9321288}" type="parTrans" cxnId="{0EBFAC73-92A2-4BE4-9E6B-7B876D640B03}">
      <dgm:prSet/>
      <dgm:spPr/>
      <dgm:t>
        <a:bodyPr/>
        <a:lstStyle/>
        <a:p>
          <a:endParaRPr lang="pt-PT"/>
        </a:p>
      </dgm:t>
    </dgm:pt>
    <dgm:pt modelId="{44BC4783-BB24-4C46-8898-BDA835560239}" type="sibTrans" cxnId="{0EBFAC73-92A2-4BE4-9E6B-7B876D640B03}">
      <dgm:prSet/>
      <dgm:spPr/>
      <dgm:t>
        <a:bodyPr/>
        <a:lstStyle/>
        <a:p>
          <a:endParaRPr lang="pt-PT"/>
        </a:p>
      </dgm:t>
    </dgm:pt>
    <dgm:pt modelId="{836AB0EB-85FF-4199-9A92-D6797CBC86FE}">
      <dgm:prSet/>
      <dgm:spPr/>
      <dgm:t>
        <a:bodyPr/>
        <a:lstStyle/>
        <a:p>
          <a:pPr algn="just" rtl="0"/>
          <a:r>
            <a:rPr lang="pt-PT" b="1" i="1" dirty="0"/>
            <a:t>“Estudo científico dos comportamentos e dos processos mentais.” </a:t>
          </a:r>
        </a:p>
        <a:p>
          <a:pPr algn="just" rtl="0"/>
          <a:r>
            <a:rPr lang="pt-PT" dirty="0"/>
            <a:t>– personalidade, aprendizagem, memória, inteligência, comunicação interpessoal, desenvolvimento, comportamento em grupo, atitudes....</a:t>
          </a:r>
        </a:p>
      </dgm:t>
    </dgm:pt>
    <dgm:pt modelId="{F29B50F4-5113-4832-8CB4-5EF0B1D4C04D}" type="parTrans" cxnId="{E3E9924F-1489-4737-AC4C-939048F9B4C0}">
      <dgm:prSet/>
      <dgm:spPr/>
      <dgm:t>
        <a:bodyPr/>
        <a:lstStyle/>
        <a:p>
          <a:endParaRPr lang="pt-PT"/>
        </a:p>
      </dgm:t>
    </dgm:pt>
    <dgm:pt modelId="{8A31C9C2-3811-4353-B42F-0CC48FF260CE}" type="sibTrans" cxnId="{E3E9924F-1489-4737-AC4C-939048F9B4C0}">
      <dgm:prSet/>
      <dgm:spPr/>
      <dgm:t>
        <a:bodyPr/>
        <a:lstStyle/>
        <a:p>
          <a:endParaRPr lang="pt-PT"/>
        </a:p>
      </dgm:t>
    </dgm:pt>
    <dgm:pt modelId="{6B95DD3E-F189-435C-AF54-3E88911A616A}">
      <dgm:prSet custT="1"/>
      <dgm:spPr/>
      <dgm:t>
        <a:bodyPr/>
        <a:lstStyle/>
        <a:p>
          <a:pPr algn="just" rtl="0"/>
          <a:r>
            <a:rPr lang="pt-PT" sz="2400" b="1" dirty="0"/>
            <a:t>“Ciência / estudo do comportamento animal e humano.” (individual ou em grupo)</a:t>
          </a:r>
          <a:endParaRPr lang="pt-PT" sz="2400" dirty="0"/>
        </a:p>
      </dgm:t>
    </dgm:pt>
    <dgm:pt modelId="{379FDAC5-6576-424C-8BD1-91F445F5003B}" type="parTrans" cxnId="{BF7DC7D8-A367-42EE-B718-698D9D3366C3}">
      <dgm:prSet/>
      <dgm:spPr/>
      <dgm:t>
        <a:bodyPr/>
        <a:lstStyle/>
        <a:p>
          <a:endParaRPr lang="pt-PT"/>
        </a:p>
      </dgm:t>
    </dgm:pt>
    <dgm:pt modelId="{01C93D35-34CD-4339-AD05-F152670E4EDF}" type="sibTrans" cxnId="{BF7DC7D8-A367-42EE-B718-698D9D3366C3}">
      <dgm:prSet/>
      <dgm:spPr/>
      <dgm:t>
        <a:bodyPr/>
        <a:lstStyle/>
        <a:p>
          <a:endParaRPr lang="pt-PT"/>
        </a:p>
      </dgm:t>
    </dgm:pt>
    <dgm:pt modelId="{C4A91228-6C5E-46CA-B7FC-5F212413DCF3}" type="pres">
      <dgm:prSet presAssocID="{BCA85504-C521-4DD9-9A05-5271214AADD0}" presName="linear" presStyleCnt="0">
        <dgm:presLayoutVars>
          <dgm:animLvl val="lvl"/>
          <dgm:resizeHandles val="exact"/>
        </dgm:presLayoutVars>
      </dgm:prSet>
      <dgm:spPr/>
    </dgm:pt>
    <dgm:pt modelId="{54CBA199-56ED-44CA-8B01-2129EBF7046D}" type="pres">
      <dgm:prSet presAssocID="{1577EC34-EE7B-4997-8C69-D1D5C27D8E45}" presName="parentText" presStyleLbl="node1" presStyleIdx="0" presStyleCnt="3" custLinFactNeighborX="300" custLinFactNeighborY="-44920">
        <dgm:presLayoutVars>
          <dgm:chMax val="0"/>
          <dgm:bulletEnabled val="1"/>
        </dgm:presLayoutVars>
      </dgm:prSet>
      <dgm:spPr/>
    </dgm:pt>
    <dgm:pt modelId="{B063B0F7-B989-45EF-B721-DD5E55D3C645}" type="pres">
      <dgm:prSet presAssocID="{44BC4783-BB24-4C46-8898-BDA835560239}" presName="spacer" presStyleCnt="0"/>
      <dgm:spPr/>
    </dgm:pt>
    <dgm:pt modelId="{DBCC4836-99BA-45A7-A3E7-800A7CC8F49D}" type="pres">
      <dgm:prSet presAssocID="{836AB0EB-85FF-4199-9A92-D6797CBC86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534485-D9D4-4C63-9DC3-CA3EF9604385}" type="pres">
      <dgm:prSet presAssocID="{8A31C9C2-3811-4353-B42F-0CC48FF260CE}" presName="spacer" presStyleCnt="0"/>
      <dgm:spPr/>
    </dgm:pt>
    <dgm:pt modelId="{6B78D038-A0A7-47C0-B0D4-472E135C8CE3}" type="pres">
      <dgm:prSet presAssocID="{6B95DD3E-F189-435C-AF54-3E88911A616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350F839-4E37-4AAE-A8CF-60A2D9C19DE9}" type="presOf" srcId="{6B95DD3E-F189-435C-AF54-3E88911A616A}" destId="{6B78D038-A0A7-47C0-B0D4-472E135C8CE3}" srcOrd="0" destOrd="0" presId="urn:microsoft.com/office/officeart/2005/8/layout/vList2"/>
    <dgm:cxn modelId="{E3E9924F-1489-4737-AC4C-939048F9B4C0}" srcId="{BCA85504-C521-4DD9-9A05-5271214AADD0}" destId="{836AB0EB-85FF-4199-9A92-D6797CBC86FE}" srcOrd="1" destOrd="0" parTransId="{F29B50F4-5113-4832-8CB4-5EF0B1D4C04D}" sibTransId="{8A31C9C2-3811-4353-B42F-0CC48FF260CE}"/>
    <dgm:cxn modelId="{0EBFAC73-92A2-4BE4-9E6B-7B876D640B03}" srcId="{BCA85504-C521-4DD9-9A05-5271214AADD0}" destId="{1577EC34-EE7B-4997-8C69-D1D5C27D8E45}" srcOrd="0" destOrd="0" parTransId="{E315660E-E755-4AE5-A3A7-89C6F9321288}" sibTransId="{44BC4783-BB24-4C46-8898-BDA835560239}"/>
    <dgm:cxn modelId="{0CEAD156-D8BB-429F-B4B1-A54344A4F415}" type="presOf" srcId="{BCA85504-C521-4DD9-9A05-5271214AADD0}" destId="{C4A91228-6C5E-46CA-B7FC-5F212413DCF3}" srcOrd="0" destOrd="0" presId="urn:microsoft.com/office/officeart/2005/8/layout/vList2"/>
    <dgm:cxn modelId="{BF7DC7D8-A367-42EE-B718-698D9D3366C3}" srcId="{BCA85504-C521-4DD9-9A05-5271214AADD0}" destId="{6B95DD3E-F189-435C-AF54-3E88911A616A}" srcOrd="2" destOrd="0" parTransId="{379FDAC5-6576-424C-8BD1-91F445F5003B}" sibTransId="{01C93D35-34CD-4339-AD05-F152670E4EDF}"/>
    <dgm:cxn modelId="{CE14FAE6-D513-4DF0-8143-049513BAF3F4}" type="presOf" srcId="{836AB0EB-85FF-4199-9A92-D6797CBC86FE}" destId="{DBCC4836-99BA-45A7-A3E7-800A7CC8F49D}" srcOrd="0" destOrd="0" presId="urn:microsoft.com/office/officeart/2005/8/layout/vList2"/>
    <dgm:cxn modelId="{3F57B6F1-7D7D-4BFC-B7FF-76236495D210}" type="presOf" srcId="{1577EC34-EE7B-4997-8C69-D1D5C27D8E45}" destId="{54CBA199-56ED-44CA-8B01-2129EBF7046D}" srcOrd="0" destOrd="0" presId="urn:microsoft.com/office/officeart/2005/8/layout/vList2"/>
    <dgm:cxn modelId="{ED03FCB5-8326-4C68-80E7-A064D3A368C9}" type="presParOf" srcId="{C4A91228-6C5E-46CA-B7FC-5F212413DCF3}" destId="{54CBA199-56ED-44CA-8B01-2129EBF7046D}" srcOrd="0" destOrd="0" presId="urn:microsoft.com/office/officeart/2005/8/layout/vList2"/>
    <dgm:cxn modelId="{999589D5-8D0D-432C-9ABF-A1CD9C5886EA}" type="presParOf" srcId="{C4A91228-6C5E-46CA-B7FC-5F212413DCF3}" destId="{B063B0F7-B989-45EF-B721-DD5E55D3C645}" srcOrd="1" destOrd="0" presId="urn:microsoft.com/office/officeart/2005/8/layout/vList2"/>
    <dgm:cxn modelId="{E6363803-2079-407E-8871-4461D571BED2}" type="presParOf" srcId="{C4A91228-6C5E-46CA-B7FC-5F212413DCF3}" destId="{DBCC4836-99BA-45A7-A3E7-800A7CC8F49D}" srcOrd="2" destOrd="0" presId="urn:microsoft.com/office/officeart/2005/8/layout/vList2"/>
    <dgm:cxn modelId="{BCE02A69-49D1-41E3-B400-261F424D7C95}" type="presParOf" srcId="{C4A91228-6C5E-46CA-B7FC-5F212413DCF3}" destId="{D4534485-D9D4-4C63-9DC3-CA3EF9604385}" srcOrd="3" destOrd="0" presId="urn:microsoft.com/office/officeart/2005/8/layout/vList2"/>
    <dgm:cxn modelId="{57C6B38F-B870-4B9C-A7FC-6A7D4079E999}" type="presParOf" srcId="{C4A91228-6C5E-46CA-B7FC-5F212413DCF3}" destId="{6B78D038-A0A7-47C0-B0D4-472E135C8CE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509C30-C09B-4A74-BF16-E9CDF634C1A9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pt-PT"/>
        </a:p>
      </dgm:t>
    </dgm:pt>
    <dgm:pt modelId="{0C2371C9-663D-43F7-87D9-5C4596F4199E}">
      <dgm:prSet/>
      <dgm:spPr/>
      <dgm:t>
        <a:bodyPr/>
        <a:lstStyle/>
        <a:p>
          <a:pPr rtl="0"/>
          <a:r>
            <a:rPr lang="pt-PT" b="1" dirty="0"/>
            <a:t>“A psicologia nunca poderá dizer a verdade sobre a loucura, pois é a loucura que detém a verdade da psicologia.” M. Foucault</a:t>
          </a:r>
          <a:endParaRPr lang="pt-PT" dirty="0"/>
        </a:p>
      </dgm:t>
    </dgm:pt>
    <dgm:pt modelId="{FE8CD271-D869-4D9B-B292-C37F4674228A}" type="parTrans" cxnId="{784A02C1-FED2-4F79-AF9E-ED86DA10AC89}">
      <dgm:prSet/>
      <dgm:spPr/>
      <dgm:t>
        <a:bodyPr/>
        <a:lstStyle/>
        <a:p>
          <a:endParaRPr lang="pt-PT"/>
        </a:p>
      </dgm:t>
    </dgm:pt>
    <dgm:pt modelId="{47DFA9D3-C554-42A7-8E5F-2D6258A18970}" type="sibTrans" cxnId="{784A02C1-FED2-4F79-AF9E-ED86DA10AC89}">
      <dgm:prSet/>
      <dgm:spPr/>
      <dgm:t>
        <a:bodyPr/>
        <a:lstStyle/>
        <a:p>
          <a:endParaRPr lang="pt-PT"/>
        </a:p>
      </dgm:t>
    </dgm:pt>
    <dgm:pt modelId="{B61358C7-C28F-4985-B158-B27CC717AFEC}" type="pres">
      <dgm:prSet presAssocID="{80509C30-C09B-4A74-BF16-E9CDF634C1A9}" presName="linear" presStyleCnt="0">
        <dgm:presLayoutVars>
          <dgm:animLvl val="lvl"/>
          <dgm:resizeHandles val="exact"/>
        </dgm:presLayoutVars>
      </dgm:prSet>
      <dgm:spPr/>
    </dgm:pt>
    <dgm:pt modelId="{3737C6F2-904D-4306-AD42-87439D06326B}" type="pres">
      <dgm:prSet presAssocID="{0C2371C9-663D-43F7-87D9-5C4596F4199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BAE2518-3CB8-42EA-8E86-18116E78F12C}" type="presOf" srcId="{0C2371C9-663D-43F7-87D9-5C4596F4199E}" destId="{3737C6F2-904D-4306-AD42-87439D06326B}" srcOrd="0" destOrd="0" presId="urn:microsoft.com/office/officeart/2005/8/layout/vList2"/>
    <dgm:cxn modelId="{784A02C1-FED2-4F79-AF9E-ED86DA10AC89}" srcId="{80509C30-C09B-4A74-BF16-E9CDF634C1A9}" destId="{0C2371C9-663D-43F7-87D9-5C4596F4199E}" srcOrd="0" destOrd="0" parTransId="{FE8CD271-D869-4D9B-B292-C37F4674228A}" sibTransId="{47DFA9D3-C554-42A7-8E5F-2D6258A18970}"/>
    <dgm:cxn modelId="{5D6D5AFC-F8CA-4B21-BEA5-3176330EC20F}" type="presOf" srcId="{80509C30-C09B-4A74-BF16-E9CDF634C1A9}" destId="{B61358C7-C28F-4985-B158-B27CC717AFEC}" srcOrd="0" destOrd="0" presId="urn:microsoft.com/office/officeart/2005/8/layout/vList2"/>
    <dgm:cxn modelId="{7E90B090-8ECB-4529-878C-01BE440DD247}" type="presParOf" srcId="{B61358C7-C28F-4985-B158-B27CC717AFEC}" destId="{3737C6F2-904D-4306-AD42-87439D06326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3709F8-300F-4B14-AE2A-92613A3F498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pt-PT"/>
        </a:p>
      </dgm:t>
    </dgm:pt>
    <dgm:pt modelId="{24081634-96B1-4A6B-9960-F6DF46272935}">
      <dgm:prSet custT="1"/>
      <dgm:spPr/>
      <dgm:t>
        <a:bodyPr/>
        <a:lstStyle/>
        <a:p>
          <a:pPr algn="ctr" rtl="0"/>
          <a:r>
            <a:rPr lang="pt-PT" sz="2800" b="1" dirty="0"/>
            <a:t>paidós (criança) e agogé (condução);</a:t>
          </a:r>
        </a:p>
      </dgm:t>
    </dgm:pt>
    <dgm:pt modelId="{1FBE5745-A3E8-4D07-88CB-E677EB385F53}" type="parTrans" cxnId="{B338BA13-83C3-4E09-A44A-B300D6C69F3C}">
      <dgm:prSet/>
      <dgm:spPr/>
      <dgm:t>
        <a:bodyPr/>
        <a:lstStyle/>
        <a:p>
          <a:endParaRPr lang="pt-PT"/>
        </a:p>
      </dgm:t>
    </dgm:pt>
    <dgm:pt modelId="{CB68391F-5E1F-4C33-85AA-AF5F85FBC115}" type="sibTrans" cxnId="{B338BA13-83C3-4E09-A44A-B300D6C69F3C}">
      <dgm:prSet/>
      <dgm:spPr/>
      <dgm:t>
        <a:bodyPr/>
        <a:lstStyle/>
        <a:p>
          <a:endParaRPr lang="pt-PT"/>
        </a:p>
      </dgm:t>
    </dgm:pt>
    <dgm:pt modelId="{7A304D1E-94FE-45D3-BDF8-C0801F5B1CD6}">
      <dgm:prSet/>
      <dgm:spPr/>
      <dgm:t>
        <a:bodyPr/>
        <a:lstStyle/>
        <a:p>
          <a:pPr rtl="0"/>
          <a:r>
            <a:rPr lang="pt-PT" dirty="0"/>
            <a:t>Os objectos de estudos centram-se na educação, no processo, ensino e na aprendizagem;</a:t>
          </a:r>
        </a:p>
      </dgm:t>
    </dgm:pt>
    <dgm:pt modelId="{8B96C934-6456-4502-8C0B-63E542A64FB6}" type="parTrans" cxnId="{528D5899-BB59-49E6-A2FB-B2A0D70D0FDC}">
      <dgm:prSet/>
      <dgm:spPr/>
      <dgm:t>
        <a:bodyPr/>
        <a:lstStyle/>
        <a:p>
          <a:endParaRPr lang="pt-PT"/>
        </a:p>
      </dgm:t>
    </dgm:pt>
    <dgm:pt modelId="{F6F42B2C-C085-4AB6-9A3D-1AD8A9058314}" type="sibTrans" cxnId="{528D5899-BB59-49E6-A2FB-B2A0D70D0FDC}">
      <dgm:prSet/>
      <dgm:spPr/>
      <dgm:t>
        <a:bodyPr/>
        <a:lstStyle/>
        <a:p>
          <a:endParaRPr lang="pt-PT"/>
        </a:p>
      </dgm:t>
    </dgm:pt>
    <dgm:pt modelId="{31BE06E1-4609-4C23-A825-122C348D16C1}">
      <dgm:prSet/>
      <dgm:spPr/>
      <dgm:t>
        <a:bodyPr/>
        <a:lstStyle/>
        <a:p>
          <a:pPr algn="just" rtl="0"/>
          <a:r>
            <a:rPr lang="pt-PT" b="1" dirty="0"/>
            <a:t>“Conjunto de teorias e princípios , metodologias e técnicas a ter em consideração quando se pretende transmitir conhecimentos”. </a:t>
          </a:r>
        </a:p>
      </dgm:t>
    </dgm:pt>
    <dgm:pt modelId="{5532FE3F-5B5C-4DB5-BA08-C1A4F2EA4AA7}" type="parTrans" cxnId="{0FE1527C-4FED-4827-9B6D-0F508754F558}">
      <dgm:prSet/>
      <dgm:spPr/>
      <dgm:t>
        <a:bodyPr/>
        <a:lstStyle/>
        <a:p>
          <a:endParaRPr lang="pt-PT"/>
        </a:p>
      </dgm:t>
    </dgm:pt>
    <dgm:pt modelId="{839CDA31-57F3-424A-AC3E-7C166CBDE1EC}" type="sibTrans" cxnId="{0FE1527C-4FED-4827-9B6D-0F508754F558}">
      <dgm:prSet/>
      <dgm:spPr/>
      <dgm:t>
        <a:bodyPr/>
        <a:lstStyle/>
        <a:p>
          <a:endParaRPr lang="pt-PT"/>
        </a:p>
      </dgm:t>
    </dgm:pt>
    <dgm:pt modelId="{A2268B68-60B3-4955-820A-4832659685E9}" type="pres">
      <dgm:prSet presAssocID="{F83709F8-300F-4B14-AE2A-92613A3F4984}" presName="linear" presStyleCnt="0">
        <dgm:presLayoutVars>
          <dgm:animLvl val="lvl"/>
          <dgm:resizeHandles val="exact"/>
        </dgm:presLayoutVars>
      </dgm:prSet>
      <dgm:spPr/>
    </dgm:pt>
    <dgm:pt modelId="{9CA47100-FF2D-4595-9A76-08FB22C667F7}" type="pres">
      <dgm:prSet presAssocID="{24081634-96B1-4A6B-9960-F6DF4627293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27F17F-7AC9-49C7-85C8-FC3DF1CBE655}" type="pres">
      <dgm:prSet presAssocID="{CB68391F-5E1F-4C33-85AA-AF5F85FBC115}" presName="spacer" presStyleCnt="0"/>
      <dgm:spPr/>
    </dgm:pt>
    <dgm:pt modelId="{542897D3-1BA9-48FE-8386-A24847A70CF4}" type="pres">
      <dgm:prSet presAssocID="{7A304D1E-94FE-45D3-BDF8-C0801F5B1CD6}" presName="parentText" presStyleLbl="node1" presStyleIdx="1" presStyleCnt="3" custLinFactY="1685" custLinFactNeighborX="489" custLinFactNeighborY="100000">
        <dgm:presLayoutVars>
          <dgm:chMax val="0"/>
          <dgm:bulletEnabled val="1"/>
        </dgm:presLayoutVars>
      </dgm:prSet>
      <dgm:spPr/>
    </dgm:pt>
    <dgm:pt modelId="{61D7A5D3-8FD5-4A3E-A442-31D443A895C6}" type="pres">
      <dgm:prSet presAssocID="{F6F42B2C-C085-4AB6-9A3D-1AD8A9058314}" presName="spacer" presStyleCnt="0"/>
      <dgm:spPr/>
    </dgm:pt>
    <dgm:pt modelId="{59CAE666-D3A6-452B-8DF3-C86ED3AE9161}" type="pres">
      <dgm:prSet presAssocID="{31BE06E1-4609-4C23-A825-122C348D16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338BA13-83C3-4E09-A44A-B300D6C69F3C}" srcId="{F83709F8-300F-4B14-AE2A-92613A3F4984}" destId="{24081634-96B1-4A6B-9960-F6DF46272935}" srcOrd="0" destOrd="0" parTransId="{1FBE5745-A3E8-4D07-88CB-E677EB385F53}" sibTransId="{CB68391F-5E1F-4C33-85AA-AF5F85FBC115}"/>
    <dgm:cxn modelId="{9F613424-1686-4E16-A998-58E15EF8B75B}" type="presOf" srcId="{24081634-96B1-4A6B-9960-F6DF46272935}" destId="{9CA47100-FF2D-4595-9A76-08FB22C667F7}" srcOrd="0" destOrd="0" presId="urn:microsoft.com/office/officeart/2005/8/layout/vList2"/>
    <dgm:cxn modelId="{3394FA42-327C-48F0-9B67-911DB5AAD5E6}" type="presOf" srcId="{F83709F8-300F-4B14-AE2A-92613A3F4984}" destId="{A2268B68-60B3-4955-820A-4832659685E9}" srcOrd="0" destOrd="0" presId="urn:microsoft.com/office/officeart/2005/8/layout/vList2"/>
    <dgm:cxn modelId="{AAD43C4E-FE18-4DCF-B2C8-AEAF11B4B52D}" type="presOf" srcId="{7A304D1E-94FE-45D3-BDF8-C0801F5B1CD6}" destId="{542897D3-1BA9-48FE-8386-A24847A70CF4}" srcOrd="0" destOrd="0" presId="urn:microsoft.com/office/officeart/2005/8/layout/vList2"/>
    <dgm:cxn modelId="{0FE1527C-4FED-4827-9B6D-0F508754F558}" srcId="{F83709F8-300F-4B14-AE2A-92613A3F4984}" destId="{31BE06E1-4609-4C23-A825-122C348D16C1}" srcOrd="2" destOrd="0" parTransId="{5532FE3F-5B5C-4DB5-BA08-C1A4F2EA4AA7}" sibTransId="{839CDA31-57F3-424A-AC3E-7C166CBDE1EC}"/>
    <dgm:cxn modelId="{528D5899-BB59-49E6-A2FB-B2A0D70D0FDC}" srcId="{F83709F8-300F-4B14-AE2A-92613A3F4984}" destId="{7A304D1E-94FE-45D3-BDF8-C0801F5B1CD6}" srcOrd="1" destOrd="0" parTransId="{8B96C934-6456-4502-8C0B-63E542A64FB6}" sibTransId="{F6F42B2C-C085-4AB6-9A3D-1AD8A9058314}"/>
    <dgm:cxn modelId="{7FC567D0-48C5-48D5-8D2B-4A885F777CDC}" type="presOf" srcId="{31BE06E1-4609-4C23-A825-122C348D16C1}" destId="{59CAE666-D3A6-452B-8DF3-C86ED3AE9161}" srcOrd="0" destOrd="0" presId="urn:microsoft.com/office/officeart/2005/8/layout/vList2"/>
    <dgm:cxn modelId="{9CAF253A-DACF-4F3E-9DD4-2C7B77F886CE}" type="presParOf" srcId="{A2268B68-60B3-4955-820A-4832659685E9}" destId="{9CA47100-FF2D-4595-9A76-08FB22C667F7}" srcOrd="0" destOrd="0" presId="urn:microsoft.com/office/officeart/2005/8/layout/vList2"/>
    <dgm:cxn modelId="{3531BB6F-9804-4B73-BD08-64C4D3084FA9}" type="presParOf" srcId="{A2268B68-60B3-4955-820A-4832659685E9}" destId="{3D27F17F-7AC9-49C7-85C8-FC3DF1CBE655}" srcOrd="1" destOrd="0" presId="urn:microsoft.com/office/officeart/2005/8/layout/vList2"/>
    <dgm:cxn modelId="{B89D516A-30E9-4F8E-AC32-5367CF933670}" type="presParOf" srcId="{A2268B68-60B3-4955-820A-4832659685E9}" destId="{542897D3-1BA9-48FE-8386-A24847A70CF4}" srcOrd="2" destOrd="0" presId="urn:microsoft.com/office/officeart/2005/8/layout/vList2"/>
    <dgm:cxn modelId="{FADAAF6E-6C8B-4C2D-BE5B-93FDF86755BE}" type="presParOf" srcId="{A2268B68-60B3-4955-820A-4832659685E9}" destId="{61D7A5D3-8FD5-4A3E-A442-31D443A895C6}" srcOrd="3" destOrd="0" presId="urn:microsoft.com/office/officeart/2005/8/layout/vList2"/>
    <dgm:cxn modelId="{EC1F2972-6520-47C8-8291-AFA9D6711047}" type="presParOf" srcId="{A2268B68-60B3-4955-820A-4832659685E9}" destId="{59CAE666-D3A6-452B-8DF3-C86ED3AE916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2D95EF-2A30-446A-91CA-6816BB78A0A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pt-PT"/>
        </a:p>
      </dgm:t>
    </dgm:pt>
    <dgm:pt modelId="{F1F5CD01-4DEF-4705-8355-4072AFB175EF}">
      <dgm:prSet/>
      <dgm:spPr/>
      <dgm:t>
        <a:bodyPr/>
        <a:lstStyle/>
        <a:p>
          <a:pPr rtl="0"/>
          <a:r>
            <a:rPr lang="pt-PT" dirty="0"/>
            <a:t>“</a:t>
          </a:r>
          <a:r>
            <a:rPr lang="pt-PT" i="1" dirty="0"/>
            <a:t>A mente que se abre a uma nova ideia jamais voltará ao seu tamanho original</a:t>
          </a:r>
          <a:r>
            <a:rPr lang="pt-PT" dirty="0"/>
            <a:t>” A. Einstein </a:t>
          </a:r>
        </a:p>
      </dgm:t>
    </dgm:pt>
    <dgm:pt modelId="{46D48BE4-30CC-4D65-9CA1-24EEF83C78FA}" type="parTrans" cxnId="{ED27F528-0549-4204-95B8-90DA3B4C5F13}">
      <dgm:prSet/>
      <dgm:spPr/>
      <dgm:t>
        <a:bodyPr/>
        <a:lstStyle/>
        <a:p>
          <a:endParaRPr lang="pt-PT"/>
        </a:p>
      </dgm:t>
    </dgm:pt>
    <dgm:pt modelId="{42AB55C0-4394-48DE-BE5E-499B4AD9D04B}" type="sibTrans" cxnId="{ED27F528-0549-4204-95B8-90DA3B4C5F13}">
      <dgm:prSet/>
      <dgm:spPr/>
      <dgm:t>
        <a:bodyPr/>
        <a:lstStyle/>
        <a:p>
          <a:endParaRPr lang="pt-PT"/>
        </a:p>
      </dgm:t>
    </dgm:pt>
    <dgm:pt modelId="{A03D9BD9-F3C2-4E6C-893B-E359BC772B8E}">
      <dgm:prSet/>
      <dgm:spPr/>
      <dgm:t>
        <a:bodyPr/>
        <a:lstStyle/>
        <a:p>
          <a:pPr rtl="0"/>
          <a:r>
            <a:rPr lang="pt-PT" dirty="0"/>
            <a:t>“</a:t>
          </a:r>
          <a:r>
            <a:rPr lang="pt-PT" i="1" dirty="0"/>
            <a:t>O professor só pode ensinar quando se está disposto a aprender</a:t>
          </a:r>
          <a:r>
            <a:rPr lang="pt-PT" dirty="0"/>
            <a:t>” J. </a:t>
          </a:r>
          <a:r>
            <a:rPr lang="pt-PT" dirty="0" err="1"/>
            <a:t>Mamedes</a:t>
          </a:r>
          <a:r>
            <a:rPr lang="pt-PT" dirty="0"/>
            <a:t> </a:t>
          </a:r>
        </a:p>
      </dgm:t>
    </dgm:pt>
    <dgm:pt modelId="{42873F27-B668-4BF4-8BD1-D3FDA05CB9E5}" type="parTrans" cxnId="{A209CE4D-FD44-41C4-BD9C-67DCA2202806}">
      <dgm:prSet/>
      <dgm:spPr/>
      <dgm:t>
        <a:bodyPr/>
        <a:lstStyle/>
        <a:p>
          <a:endParaRPr lang="pt-PT"/>
        </a:p>
      </dgm:t>
    </dgm:pt>
    <dgm:pt modelId="{90097B7F-A72C-4BB9-92C8-089606514984}" type="sibTrans" cxnId="{A209CE4D-FD44-41C4-BD9C-67DCA2202806}">
      <dgm:prSet/>
      <dgm:spPr/>
      <dgm:t>
        <a:bodyPr/>
        <a:lstStyle/>
        <a:p>
          <a:endParaRPr lang="pt-PT"/>
        </a:p>
      </dgm:t>
    </dgm:pt>
    <dgm:pt modelId="{DEE3AA10-5601-40C3-B614-2FC47003D074}">
      <dgm:prSet/>
      <dgm:spPr/>
      <dgm:t>
        <a:bodyPr/>
        <a:lstStyle/>
        <a:p>
          <a:pPr rtl="0"/>
          <a:r>
            <a:rPr lang="pt-PT" b="1" dirty="0"/>
            <a:t>“Educação nunca foi despesa. Sempre foi investimento com retorno garantido.” </a:t>
          </a:r>
          <a:r>
            <a:rPr lang="pt-PT" dirty="0"/>
            <a:t>Sir Arthur Lewis</a:t>
          </a:r>
        </a:p>
      </dgm:t>
    </dgm:pt>
    <dgm:pt modelId="{7A1B25EE-A6F4-4C46-A22B-432094226D76}" type="parTrans" cxnId="{275304CE-D82C-4DCC-8C02-39D9A81AD7DE}">
      <dgm:prSet/>
      <dgm:spPr/>
      <dgm:t>
        <a:bodyPr/>
        <a:lstStyle/>
        <a:p>
          <a:endParaRPr lang="pt-PT"/>
        </a:p>
      </dgm:t>
    </dgm:pt>
    <dgm:pt modelId="{B4BB2A5C-FA9B-43E2-BC79-440555A1BB9F}" type="sibTrans" cxnId="{275304CE-D82C-4DCC-8C02-39D9A81AD7DE}">
      <dgm:prSet/>
      <dgm:spPr/>
      <dgm:t>
        <a:bodyPr/>
        <a:lstStyle/>
        <a:p>
          <a:endParaRPr lang="pt-PT"/>
        </a:p>
      </dgm:t>
    </dgm:pt>
    <dgm:pt modelId="{77A3AA10-5513-4FCA-807A-00E4782BCC8F}">
      <dgm:prSet/>
      <dgm:spPr/>
      <dgm:t>
        <a:bodyPr/>
        <a:lstStyle/>
        <a:p>
          <a:pPr rtl="0"/>
          <a:r>
            <a:rPr lang="pt-PT" b="1"/>
            <a:t>“Educar é semear com sabedoria e colher com paciência.” </a:t>
          </a:r>
          <a:r>
            <a:rPr lang="pt-PT"/>
            <a:t>A. Cury</a:t>
          </a:r>
        </a:p>
      </dgm:t>
    </dgm:pt>
    <dgm:pt modelId="{DD047A40-E919-489B-A941-31B48082F5A9}" type="parTrans" cxnId="{C05BA391-8199-4C67-B8DE-CC8B7D482A43}">
      <dgm:prSet/>
      <dgm:spPr/>
      <dgm:t>
        <a:bodyPr/>
        <a:lstStyle/>
        <a:p>
          <a:endParaRPr lang="pt-PT"/>
        </a:p>
      </dgm:t>
    </dgm:pt>
    <dgm:pt modelId="{0CC4F8D2-999D-4107-9078-1379ABA0D360}" type="sibTrans" cxnId="{C05BA391-8199-4C67-B8DE-CC8B7D482A43}">
      <dgm:prSet/>
      <dgm:spPr/>
      <dgm:t>
        <a:bodyPr/>
        <a:lstStyle/>
        <a:p>
          <a:endParaRPr lang="pt-PT"/>
        </a:p>
      </dgm:t>
    </dgm:pt>
    <dgm:pt modelId="{3B722DB3-7C33-4143-B7BF-7C0A74AFF92A}" type="pres">
      <dgm:prSet presAssocID="{472D95EF-2A30-446A-91CA-6816BB78A0A4}" presName="linear" presStyleCnt="0">
        <dgm:presLayoutVars>
          <dgm:animLvl val="lvl"/>
          <dgm:resizeHandles val="exact"/>
        </dgm:presLayoutVars>
      </dgm:prSet>
      <dgm:spPr/>
    </dgm:pt>
    <dgm:pt modelId="{B4964E1F-637B-4819-8281-050B746B0ECE}" type="pres">
      <dgm:prSet presAssocID="{F1F5CD01-4DEF-4705-8355-4072AFB175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6FB4621-7EFF-4A36-BD46-CBF6E7D9E358}" type="pres">
      <dgm:prSet presAssocID="{42AB55C0-4394-48DE-BE5E-499B4AD9D04B}" presName="spacer" presStyleCnt="0"/>
      <dgm:spPr/>
    </dgm:pt>
    <dgm:pt modelId="{29CD3B48-9FC9-4C9F-A3C7-1A253DC02D3E}" type="pres">
      <dgm:prSet presAssocID="{A03D9BD9-F3C2-4E6C-893B-E359BC772B8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6032458-E4D8-4C52-BE86-6DEF16289156}" type="pres">
      <dgm:prSet presAssocID="{90097B7F-A72C-4BB9-92C8-089606514984}" presName="spacer" presStyleCnt="0"/>
      <dgm:spPr/>
    </dgm:pt>
    <dgm:pt modelId="{D8468413-E036-41DE-BB83-FD19C0F74028}" type="pres">
      <dgm:prSet presAssocID="{DEE3AA10-5601-40C3-B614-2FC47003D0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0A08C6-320C-49C0-872B-CEF7112E8767}" type="pres">
      <dgm:prSet presAssocID="{B4BB2A5C-FA9B-43E2-BC79-440555A1BB9F}" presName="spacer" presStyleCnt="0"/>
      <dgm:spPr/>
    </dgm:pt>
    <dgm:pt modelId="{5EB767A4-F1D6-4F49-A097-5D3D6C012ACC}" type="pres">
      <dgm:prSet presAssocID="{77A3AA10-5513-4FCA-807A-00E4782BCC8F}" presName="parentText" presStyleLbl="node1" presStyleIdx="3" presStyleCnt="4" custLinFactNeighborY="13538">
        <dgm:presLayoutVars>
          <dgm:chMax val="0"/>
          <dgm:bulletEnabled val="1"/>
        </dgm:presLayoutVars>
      </dgm:prSet>
      <dgm:spPr/>
    </dgm:pt>
  </dgm:ptLst>
  <dgm:cxnLst>
    <dgm:cxn modelId="{B0E70502-CF95-4C18-812F-47D32E8350FA}" type="presOf" srcId="{DEE3AA10-5601-40C3-B614-2FC47003D074}" destId="{D8468413-E036-41DE-BB83-FD19C0F74028}" srcOrd="0" destOrd="0" presId="urn:microsoft.com/office/officeart/2005/8/layout/vList2"/>
    <dgm:cxn modelId="{ED27F528-0549-4204-95B8-90DA3B4C5F13}" srcId="{472D95EF-2A30-446A-91CA-6816BB78A0A4}" destId="{F1F5CD01-4DEF-4705-8355-4072AFB175EF}" srcOrd="0" destOrd="0" parTransId="{46D48BE4-30CC-4D65-9CA1-24EEF83C78FA}" sibTransId="{42AB55C0-4394-48DE-BE5E-499B4AD9D04B}"/>
    <dgm:cxn modelId="{CB002A46-A9CD-44F2-951B-B3C530CB449F}" type="presOf" srcId="{77A3AA10-5513-4FCA-807A-00E4782BCC8F}" destId="{5EB767A4-F1D6-4F49-A097-5D3D6C012ACC}" srcOrd="0" destOrd="0" presId="urn:microsoft.com/office/officeart/2005/8/layout/vList2"/>
    <dgm:cxn modelId="{A209CE4D-FD44-41C4-BD9C-67DCA2202806}" srcId="{472D95EF-2A30-446A-91CA-6816BB78A0A4}" destId="{A03D9BD9-F3C2-4E6C-893B-E359BC772B8E}" srcOrd="1" destOrd="0" parTransId="{42873F27-B668-4BF4-8BD1-D3FDA05CB9E5}" sibTransId="{90097B7F-A72C-4BB9-92C8-089606514984}"/>
    <dgm:cxn modelId="{F142FC4E-B228-4810-8526-45948236EA10}" type="presOf" srcId="{472D95EF-2A30-446A-91CA-6816BB78A0A4}" destId="{3B722DB3-7C33-4143-B7BF-7C0A74AFF92A}" srcOrd="0" destOrd="0" presId="urn:microsoft.com/office/officeart/2005/8/layout/vList2"/>
    <dgm:cxn modelId="{09921B7A-77AF-4086-B669-A61FC177032E}" type="presOf" srcId="{A03D9BD9-F3C2-4E6C-893B-E359BC772B8E}" destId="{29CD3B48-9FC9-4C9F-A3C7-1A253DC02D3E}" srcOrd="0" destOrd="0" presId="urn:microsoft.com/office/officeart/2005/8/layout/vList2"/>
    <dgm:cxn modelId="{C05BA391-8199-4C67-B8DE-CC8B7D482A43}" srcId="{472D95EF-2A30-446A-91CA-6816BB78A0A4}" destId="{77A3AA10-5513-4FCA-807A-00E4782BCC8F}" srcOrd="3" destOrd="0" parTransId="{DD047A40-E919-489B-A941-31B48082F5A9}" sibTransId="{0CC4F8D2-999D-4107-9078-1379ABA0D360}"/>
    <dgm:cxn modelId="{943AC99B-2378-4610-933B-CB227A072C60}" type="presOf" srcId="{F1F5CD01-4DEF-4705-8355-4072AFB175EF}" destId="{B4964E1F-637B-4819-8281-050B746B0ECE}" srcOrd="0" destOrd="0" presId="urn:microsoft.com/office/officeart/2005/8/layout/vList2"/>
    <dgm:cxn modelId="{275304CE-D82C-4DCC-8C02-39D9A81AD7DE}" srcId="{472D95EF-2A30-446A-91CA-6816BB78A0A4}" destId="{DEE3AA10-5601-40C3-B614-2FC47003D074}" srcOrd="2" destOrd="0" parTransId="{7A1B25EE-A6F4-4C46-A22B-432094226D76}" sibTransId="{B4BB2A5C-FA9B-43E2-BC79-440555A1BB9F}"/>
    <dgm:cxn modelId="{DD520A09-1603-467E-8408-436421E410BF}" type="presParOf" srcId="{3B722DB3-7C33-4143-B7BF-7C0A74AFF92A}" destId="{B4964E1F-637B-4819-8281-050B746B0ECE}" srcOrd="0" destOrd="0" presId="urn:microsoft.com/office/officeart/2005/8/layout/vList2"/>
    <dgm:cxn modelId="{E356CA84-43F5-41C2-9CF2-F52706CDB980}" type="presParOf" srcId="{3B722DB3-7C33-4143-B7BF-7C0A74AFF92A}" destId="{36FB4621-7EFF-4A36-BD46-CBF6E7D9E358}" srcOrd="1" destOrd="0" presId="urn:microsoft.com/office/officeart/2005/8/layout/vList2"/>
    <dgm:cxn modelId="{A4C90B30-38A4-4C26-AC31-B10C1DDD3C9D}" type="presParOf" srcId="{3B722DB3-7C33-4143-B7BF-7C0A74AFF92A}" destId="{29CD3B48-9FC9-4C9F-A3C7-1A253DC02D3E}" srcOrd="2" destOrd="0" presId="urn:microsoft.com/office/officeart/2005/8/layout/vList2"/>
    <dgm:cxn modelId="{2671F90D-1226-4331-A5FA-6D5B347655AA}" type="presParOf" srcId="{3B722DB3-7C33-4143-B7BF-7C0A74AFF92A}" destId="{D6032458-E4D8-4C52-BE86-6DEF16289156}" srcOrd="3" destOrd="0" presId="urn:microsoft.com/office/officeart/2005/8/layout/vList2"/>
    <dgm:cxn modelId="{597C92F0-A643-4A17-9EBB-DFD534EEA2C9}" type="presParOf" srcId="{3B722DB3-7C33-4143-B7BF-7C0A74AFF92A}" destId="{D8468413-E036-41DE-BB83-FD19C0F74028}" srcOrd="4" destOrd="0" presId="urn:microsoft.com/office/officeart/2005/8/layout/vList2"/>
    <dgm:cxn modelId="{1DF4BBA1-8435-4268-9939-8A2E7872DCDA}" type="presParOf" srcId="{3B722DB3-7C33-4143-B7BF-7C0A74AFF92A}" destId="{390A08C6-320C-49C0-872B-CEF7112E8767}" srcOrd="5" destOrd="0" presId="urn:microsoft.com/office/officeart/2005/8/layout/vList2"/>
    <dgm:cxn modelId="{2F90E2FE-3D4E-4F3E-A43F-972B32EE2EFF}" type="presParOf" srcId="{3B722DB3-7C33-4143-B7BF-7C0A74AFF92A}" destId="{5EB767A4-F1D6-4F49-A097-5D3D6C012AC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82E2CE-5413-49B8-8B53-69FCD3A2EF4F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pt-PT"/>
        </a:p>
      </dgm:t>
    </dgm:pt>
    <dgm:pt modelId="{45637ED5-A0F8-444F-AD5D-B4E805FC3388}">
      <dgm:prSet/>
      <dgm:spPr/>
      <dgm:t>
        <a:bodyPr/>
        <a:lstStyle/>
        <a:p>
          <a:pPr algn="just" rtl="0"/>
          <a:r>
            <a:rPr lang="pt-PT" b="1" dirty="0"/>
            <a:t>Psicologia </a:t>
          </a:r>
          <a:r>
            <a:rPr lang="pt-PT" dirty="0"/>
            <a:t>- permite decompor a condução nas suas actividades elementares no sentido de identificar os diversos processos psicológicos nela implicados.</a:t>
          </a:r>
        </a:p>
      </dgm:t>
    </dgm:pt>
    <dgm:pt modelId="{C52D9BB0-8C31-4311-9A14-72A14C29C663}" type="parTrans" cxnId="{730927C1-74D4-41FC-9470-DD348A702021}">
      <dgm:prSet/>
      <dgm:spPr/>
      <dgm:t>
        <a:bodyPr/>
        <a:lstStyle/>
        <a:p>
          <a:endParaRPr lang="pt-PT"/>
        </a:p>
      </dgm:t>
    </dgm:pt>
    <dgm:pt modelId="{022D1EFF-3AF1-4C62-915F-DFEDD89D79E8}" type="sibTrans" cxnId="{730927C1-74D4-41FC-9470-DD348A702021}">
      <dgm:prSet/>
      <dgm:spPr/>
      <dgm:t>
        <a:bodyPr/>
        <a:lstStyle/>
        <a:p>
          <a:endParaRPr lang="pt-PT"/>
        </a:p>
      </dgm:t>
    </dgm:pt>
    <dgm:pt modelId="{5CD2CC02-D299-44B0-A0D1-CAF7C46EA0B7}">
      <dgm:prSet/>
      <dgm:spPr/>
      <dgm:t>
        <a:bodyPr/>
        <a:lstStyle/>
        <a:p>
          <a:pPr algn="just" rtl="0"/>
          <a:r>
            <a:rPr lang="pt-PT" b="1" dirty="0"/>
            <a:t>Permite explicar porque é que, face a determinada situação, o indivíduo apresenta um dado comportamento.</a:t>
          </a:r>
          <a:endParaRPr lang="pt-PT" dirty="0"/>
        </a:p>
      </dgm:t>
    </dgm:pt>
    <dgm:pt modelId="{544D1803-F5FE-45BC-9FDE-F15C8016992D}" type="parTrans" cxnId="{C00FC522-6469-4428-BA78-8C4A11A21B47}">
      <dgm:prSet/>
      <dgm:spPr/>
      <dgm:t>
        <a:bodyPr/>
        <a:lstStyle/>
        <a:p>
          <a:endParaRPr lang="pt-PT"/>
        </a:p>
      </dgm:t>
    </dgm:pt>
    <dgm:pt modelId="{8278F81D-3EAF-47EE-B02C-C446A93F6FE6}" type="sibTrans" cxnId="{C00FC522-6469-4428-BA78-8C4A11A21B47}">
      <dgm:prSet/>
      <dgm:spPr/>
      <dgm:t>
        <a:bodyPr/>
        <a:lstStyle/>
        <a:p>
          <a:endParaRPr lang="pt-PT"/>
        </a:p>
      </dgm:t>
    </dgm:pt>
    <dgm:pt modelId="{284B7FC7-14F1-486C-8697-096B7225A0B4}" type="pres">
      <dgm:prSet presAssocID="{BC82E2CE-5413-49B8-8B53-69FCD3A2EF4F}" presName="linear" presStyleCnt="0">
        <dgm:presLayoutVars>
          <dgm:animLvl val="lvl"/>
          <dgm:resizeHandles val="exact"/>
        </dgm:presLayoutVars>
      </dgm:prSet>
      <dgm:spPr/>
    </dgm:pt>
    <dgm:pt modelId="{45C36F2F-8631-4A34-A6E4-CFA634DBBA25}" type="pres">
      <dgm:prSet presAssocID="{45637ED5-A0F8-444F-AD5D-B4E805FC338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0F3565A-EB0A-4772-9749-60787BE7708B}" type="pres">
      <dgm:prSet presAssocID="{022D1EFF-3AF1-4C62-915F-DFEDD89D79E8}" presName="spacer" presStyleCnt="0"/>
      <dgm:spPr/>
    </dgm:pt>
    <dgm:pt modelId="{BD11CEE6-5EC1-412E-962D-ED6A8540E49C}" type="pres">
      <dgm:prSet presAssocID="{5CD2CC02-D299-44B0-A0D1-CAF7C46EA0B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00FC522-6469-4428-BA78-8C4A11A21B47}" srcId="{BC82E2CE-5413-49B8-8B53-69FCD3A2EF4F}" destId="{5CD2CC02-D299-44B0-A0D1-CAF7C46EA0B7}" srcOrd="1" destOrd="0" parTransId="{544D1803-F5FE-45BC-9FDE-F15C8016992D}" sibTransId="{8278F81D-3EAF-47EE-B02C-C446A93F6FE6}"/>
    <dgm:cxn modelId="{6F2AE03D-1C9E-49E5-8047-80C7546206BC}" type="presOf" srcId="{5CD2CC02-D299-44B0-A0D1-CAF7C46EA0B7}" destId="{BD11CEE6-5EC1-412E-962D-ED6A8540E49C}" srcOrd="0" destOrd="0" presId="urn:microsoft.com/office/officeart/2005/8/layout/vList2"/>
    <dgm:cxn modelId="{964CA263-1A99-4EE1-AC19-21F779BF26A5}" type="presOf" srcId="{45637ED5-A0F8-444F-AD5D-B4E805FC3388}" destId="{45C36F2F-8631-4A34-A6E4-CFA634DBBA25}" srcOrd="0" destOrd="0" presId="urn:microsoft.com/office/officeart/2005/8/layout/vList2"/>
    <dgm:cxn modelId="{F14499A7-D848-4D67-94D7-645BC09DFEE0}" type="presOf" srcId="{BC82E2CE-5413-49B8-8B53-69FCD3A2EF4F}" destId="{284B7FC7-14F1-486C-8697-096B7225A0B4}" srcOrd="0" destOrd="0" presId="urn:microsoft.com/office/officeart/2005/8/layout/vList2"/>
    <dgm:cxn modelId="{730927C1-74D4-41FC-9470-DD348A702021}" srcId="{BC82E2CE-5413-49B8-8B53-69FCD3A2EF4F}" destId="{45637ED5-A0F8-444F-AD5D-B4E805FC3388}" srcOrd="0" destOrd="0" parTransId="{C52D9BB0-8C31-4311-9A14-72A14C29C663}" sibTransId="{022D1EFF-3AF1-4C62-915F-DFEDD89D79E8}"/>
    <dgm:cxn modelId="{D2E80CB1-3797-49F3-8322-C89837366CA3}" type="presParOf" srcId="{284B7FC7-14F1-486C-8697-096B7225A0B4}" destId="{45C36F2F-8631-4A34-A6E4-CFA634DBBA25}" srcOrd="0" destOrd="0" presId="urn:microsoft.com/office/officeart/2005/8/layout/vList2"/>
    <dgm:cxn modelId="{21265C59-8E34-45D2-8573-A42D46C39141}" type="presParOf" srcId="{284B7FC7-14F1-486C-8697-096B7225A0B4}" destId="{70F3565A-EB0A-4772-9749-60787BE7708B}" srcOrd="1" destOrd="0" presId="urn:microsoft.com/office/officeart/2005/8/layout/vList2"/>
    <dgm:cxn modelId="{DD6DD384-71E0-4E35-9CED-1050BA683D10}" type="presParOf" srcId="{284B7FC7-14F1-486C-8697-096B7225A0B4}" destId="{BD11CEE6-5EC1-412E-962D-ED6A8540E49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C83ED7-C430-4FD9-B5F7-CA095B809DF6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pt-PT"/>
        </a:p>
      </dgm:t>
    </dgm:pt>
    <dgm:pt modelId="{BA3A7AC8-BC8A-49B3-8BBB-9B992FC4B5BF}">
      <dgm:prSet custT="1"/>
      <dgm:spPr/>
      <dgm:t>
        <a:bodyPr/>
        <a:lstStyle/>
        <a:p>
          <a:pPr algn="just" rtl="0"/>
          <a:r>
            <a:rPr lang="pt-PT" sz="2400" b="1" dirty="0"/>
            <a:t>Pedagogia </a:t>
          </a:r>
          <a:r>
            <a:rPr lang="pt-PT" sz="2400" dirty="0"/>
            <a:t>- permite analisar os vários métodos de ensino, possibilitando a escolha da metodologia mais correcta em função dos formandos, com o objectivo de melhorar a qualidade de ensino.</a:t>
          </a:r>
        </a:p>
      </dgm:t>
    </dgm:pt>
    <dgm:pt modelId="{92F3A029-34E0-4260-8D7A-294A2C0D9494}" type="parTrans" cxnId="{892A0486-DC4A-45E5-8275-4094A1722CDD}">
      <dgm:prSet/>
      <dgm:spPr/>
      <dgm:t>
        <a:bodyPr/>
        <a:lstStyle/>
        <a:p>
          <a:endParaRPr lang="pt-PT"/>
        </a:p>
      </dgm:t>
    </dgm:pt>
    <dgm:pt modelId="{1DD92B21-A247-4018-9288-B2A2AFB3DF65}" type="sibTrans" cxnId="{892A0486-DC4A-45E5-8275-4094A1722CDD}">
      <dgm:prSet/>
      <dgm:spPr/>
      <dgm:t>
        <a:bodyPr/>
        <a:lstStyle/>
        <a:p>
          <a:endParaRPr lang="pt-PT"/>
        </a:p>
      </dgm:t>
    </dgm:pt>
    <dgm:pt modelId="{C6FE167E-35D0-4A0A-842F-D44813B211A4}">
      <dgm:prSet/>
      <dgm:spPr/>
      <dgm:t>
        <a:bodyPr/>
        <a:lstStyle/>
        <a:p>
          <a:pPr rtl="0"/>
          <a:r>
            <a:rPr lang="pt-PT" b="1"/>
            <a:t>A aprendizagem da condução não é inata.</a:t>
          </a:r>
          <a:endParaRPr lang="pt-PT"/>
        </a:p>
      </dgm:t>
    </dgm:pt>
    <dgm:pt modelId="{3425FA0D-04E5-4597-857E-47D6881F895F}" type="parTrans" cxnId="{BE6DEF0A-B25C-408D-8666-25750361296D}">
      <dgm:prSet/>
      <dgm:spPr/>
      <dgm:t>
        <a:bodyPr/>
        <a:lstStyle/>
        <a:p>
          <a:endParaRPr lang="pt-PT"/>
        </a:p>
      </dgm:t>
    </dgm:pt>
    <dgm:pt modelId="{7AD9FEC7-5608-4FC0-8C41-2E46676DC7A7}" type="sibTrans" cxnId="{BE6DEF0A-B25C-408D-8666-25750361296D}">
      <dgm:prSet/>
      <dgm:spPr/>
      <dgm:t>
        <a:bodyPr/>
        <a:lstStyle/>
        <a:p>
          <a:endParaRPr lang="pt-PT"/>
        </a:p>
      </dgm:t>
    </dgm:pt>
    <dgm:pt modelId="{169DCE3B-288E-4535-A552-75A79B9B2FEC}" type="pres">
      <dgm:prSet presAssocID="{DBC83ED7-C430-4FD9-B5F7-CA095B809DF6}" presName="linear" presStyleCnt="0">
        <dgm:presLayoutVars>
          <dgm:animLvl val="lvl"/>
          <dgm:resizeHandles val="exact"/>
        </dgm:presLayoutVars>
      </dgm:prSet>
      <dgm:spPr/>
    </dgm:pt>
    <dgm:pt modelId="{237725D1-EB0E-4EC8-890C-47A7F65EB580}" type="pres">
      <dgm:prSet presAssocID="{BA3A7AC8-BC8A-49B3-8BBB-9B992FC4B5BF}" presName="parentText" presStyleLbl="node1" presStyleIdx="0" presStyleCnt="2" custScaleY="79142">
        <dgm:presLayoutVars>
          <dgm:chMax val="0"/>
          <dgm:bulletEnabled val="1"/>
        </dgm:presLayoutVars>
      </dgm:prSet>
      <dgm:spPr/>
    </dgm:pt>
    <dgm:pt modelId="{F0823071-BFFB-4A7D-947F-933DDAF26023}" type="pres">
      <dgm:prSet presAssocID="{1DD92B21-A247-4018-9288-B2A2AFB3DF65}" presName="spacer" presStyleCnt="0"/>
      <dgm:spPr/>
    </dgm:pt>
    <dgm:pt modelId="{61C38EDD-771C-4926-9FCC-C8276D7B4D22}" type="pres">
      <dgm:prSet presAssocID="{C6FE167E-35D0-4A0A-842F-D44813B211A4}" presName="parentText" presStyleLbl="node1" presStyleIdx="1" presStyleCnt="2" custScaleY="62755">
        <dgm:presLayoutVars>
          <dgm:chMax val="0"/>
          <dgm:bulletEnabled val="1"/>
        </dgm:presLayoutVars>
      </dgm:prSet>
      <dgm:spPr/>
    </dgm:pt>
  </dgm:ptLst>
  <dgm:cxnLst>
    <dgm:cxn modelId="{BE6DEF0A-B25C-408D-8666-25750361296D}" srcId="{DBC83ED7-C430-4FD9-B5F7-CA095B809DF6}" destId="{C6FE167E-35D0-4A0A-842F-D44813B211A4}" srcOrd="1" destOrd="0" parTransId="{3425FA0D-04E5-4597-857E-47D6881F895F}" sibTransId="{7AD9FEC7-5608-4FC0-8C41-2E46676DC7A7}"/>
    <dgm:cxn modelId="{D3C72929-D3ED-404E-AC6E-A6524C13C372}" type="presOf" srcId="{C6FE167E-35D0-4A0A-842F-D44813B211A4}" destId="{61C38EDD-771C-4926-9FCC-C8276D7B4D22}" srcOrd="0" destOrd="0" presId="urn:microsoft.com/office/officeart/2005/8/layout/vList2"/>
    <dgm:cxn modelId="{978FB36F-6354-4187-BBE8-8E09E7D5A15C}" type="presOf" srcId="{BA3A7AC8-BC8A-49B3-8BBB-9B992FC4B5BF}" destId="{237725D1-EB0E-4EC8-890C-47A7F65EB580}" srcOrd="0" destOrd="0" presId="urn:microsoft.com/office/officeart/2005/8/layout/vList2"/>
    <dgm:cxn modelId="{892A0486-DC4A-45E5-8275-4094A1722CDD}" srcId="{DBC83ED7-C430-4FD9-B5F7-CA095B809DF6}" destId="{BA3A7AC8-BC8A-49B3-8BBB-9B992FC4B5BF}" srcOrd="0" destOrd="0" parTransId="{92F3A029-34E0-4260-8D7A-294A2C0D9494}" sibTransId="{1DD92B21-A247-4018-9288-B2A2AFB3DF65}"/>
    <dgm:cxn modelId="{4CBF4CFF-D069-4500-B349-7906E5A35BA5}" type="presOf" srcId="{DBC83ED7-C430-4FD9-B5F7-CA095B809DF6}" destId="{169DCE3B-288E-4535-A552-75A79B9B2FEC}" srcOrd="0" destOrd="0" presId="urn:microsoft.com/office/officeart/2005/8/layout/vList2"/>
    <dgm:cxn modelId="{464B11AA-2049-4542-BA51-DE8C5B30EFBF}" type="presParOf" srcId="{169DCE3B-288E-4535-A552-75A79B9B2FEC}" destId="{237725D1-EB0E-4EC8-890C-47A7F65EB580}" srcOrd="0" destOrd="0" presId="urn:microsoft.com/office/officeart/2005/8/layout/vList2"/>
    <dgm:cxn modelId="{AD61DBF8-AEDA-4908-B3AD-9571513F2E00}" type="presParOf" srcId="{169DCE3B-288E-4535-A552-75A79B9B2FEC}" destId="{F0823071-BFFB-4A7D-947F-933DDAF26023}" srcOrd="1" destOrd="0" presId="urn:microsoft.com/office/officeart/2005/8/layout/vList2"/>
    <dgm:cxn modelId="{8681C94B-9FE8-4DAF-9EF9-D528AF2A4E8A}" type="presParOf" srcId="{169DCE3B-288E-4535-A552-75A79B9B2FEC}" destId="{61C38EDD-771C-4926-9FCC-C8276D7B4D2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CC512A-9154-4020-B31F-37732F9CF63E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pt-PT"/>
        </a:p>
      </dgm:t>
    </dgm:pt>
    <dgm:pt modelId="{70EB580D-A000-434B-8947-E6E93A4A2E44}">
      <dgm:prSet/>
      <dgm:spPr/>
      <dgm:t>
        <a:bodyPr/>
        <a:lstStyle/>
        <a:p>
          <a:pPr algn="just" rtl="0"/>
          <a:r>
            <a:rPr lang="pt-PT" dirty="0"/>
            <a:t>É o campo do saber que se constrói a partir de dois saberes e práticas: a </a:t>
          </a:r>
          <a:r>
            <a:rPr lang="pt-PT" b="1" dirty="0">
              <a:solidFill>
                <a:srgbClr val="C00000"/>
              </a:solidFill>
            </a:rPr>
            <a:t>psicologia</a:t>
          </a:r>
          <a:r>
            <a:rPr lang="pt-PT" b="1" dirty="0"/>
            <a:t> </a:t>
          </a:r>
          <a:r>
            <a:rPr lang="pt-PT" dirty="0"/>
            <a:t>(comportamento em interacção) e a </a:t>
          </a:r>
          <a:r>
            <a:rPr lang="pt-PT" b="1" dirty="0">
              <a:solidFill>
                <a:srgbClr val="C00000"/>
              </a:solidFill>
            </a:rPr>
            <a:t>pedagogia</a:t>
          </a:r>
          <a:r>
            <a:rPr lang="pt-PT" b="1" dirty="0"/>
            <a:t> </a:t>
          </a:r>
          <a:r>
            <a:rPr lang="pt-PT" dirty="0"/>
            <a:t>(métodos/técnicas de ensino).</a:t>
          </a:r>
        </a:p>
      </dgm:t>
    </dgm:pt>
    <dgm:pt modelId="{656D9AD0-E95A-404E-88C9-04C8760CD965}" type="parTrans" cxnId="{ECA7B8F4-78B7-49C0-AE34-AA1889A9278E}">
      <dgm:prSet/>
      <dgm:spPr/>
      <dgm:t>
        <a:bodyPr/>
        <a:lstStyle/>
        <a:p>
          <a:endParaRPr lang="pt-PT"/>
        </a:p>
      </dgm:t>
    </dgm:pt>
    <dgm:pt modelId="{C253BCCD-272B-46F3-9E25-BB4F874F6C22}" type="sibTrans" cxnId="{ECA7B8F4-78B7-49C0-AE34-AA1889A9278E}">
      <dgm:prSet/>
      <dgm:spPr/>
      <dgm:t>
        <a:bodyPr/>
        <a:lstStyle/>
        <a:p>
          <a:endParaRPr lang="pt-PT"/>
        </a:p>
      </dgm:t>
    </dgm:pt>
    <dgm:pt modelId="{D9A65953-C40F-49CA-9BFF-489AFDCEFE9E}">
      <dgm:prSet/>
      <dgm:spPr/>
      <dgm:t>
        <a:bodyPr/>
        <a:lstStyle/>
        <a:p>
          <a:pPr algn="just" rtl="0"/>
          <a:r>
            <a:rPr lang="pt-PT" dirty="0"/>
            <a:t>Na condução permite perceber os </a:t>
          </a:r>
          <a:r>
            <a:rPr lang="pt-PT" u="sng" dirty="0"/>
            <a:t>métodos e técnicas disponíveis </a:t>
          </a:r>
          <a:r>
            <a:rPr lang="pt-PT" dirty="0"/>
            <a:t>e possibilita uma </a:t>
          </a:r>
          <a:r>
            <a:rPr lang="pt-PT" u="sng" dirty="0"/>
            <a:t>maior compreensão do aluno </a:t>
          </a:r>
          <a:r>
            <a:rPr lang="pt-PT" dirty="0"/>
            <a:t>na aquisição desse comportamento (tarefa da condução).</a:t>
          </a:r>
        </a:p>
      </dgm:t>
    </dgm:pt>
    <dgm:pt modelId="{8EF99B73-1ED6-48B6-9613-B6889A28EC5A}" type="parTrans" cxnId="{16533897-9FCF-41DC-B602-3F188AB3BFD9}">
      <dgm:prSet/>
      <dgm:spPr/>
      <dgm:t>
        <a:bodyPr/>
        <a:lstStyle/>
        <a:p>
          <a:endParaRPr lang="pt-PT"/>
        </a:p>
      </dgm:t>
    </dgm:pt>
    <dgm:pt modelId="{EF358A88-D4EF-47B2-90D9-9C583BBA27F7}" type="sibTrans" cxnId="{16533897-9FCF-41DC-B602-3F188AB3BFD9}">
      <dgm:prSet/>
      <dgm:spPr/>
      <dgm:t>
        <a:bodyPr/>
        <a:lstStyle/>
        <a:p>
          <a:endParaRPr lang="pt-PT"/>
        </a:p>
      </dgm:t>
    </dgm:pt>
    <dgm:pt modelId="{FDBC00AA-F265-4590-92B8-757F0AA2A9FC}" type="pres">
      <dgm:prSet presAssocID="{9ECC512A-9154-4020-B31F-37732F9CF63E}" presName="linear" presStyleCnt="0">
        <dgm:presLayoutVars>
          <dgm:animLvl val="lvl"/>
          <dgm:resizeHandles val="exact"/>
        </dgm:presLayoutVars>
      </dgm:prSet>
      <dgm:spPr/>
    </dgm:pt>
    <dgm:pt modelId="{1A2D2ECB-2EF3-4F32-AF43-A10BAA4F02BB}" type="pres">
      <dgm:prSet presAssocID="{70EB580D-A000-434B-8947-E6E93A4A2E4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9503B8-5E40-4EE6-8119-964841BE4BC1}" type="pres">
      <dgm:prSet presAssocID="{C253BCCD-272B-46F3-9E25-BB4F874F6C22}" presName="spacer" presStyleCnt="0"/>
      <dgm:spPr/>
    </dgm:pt>
    <dgm:pt modelId="{1B781746-1295-4FD1-856C-79E282AACDD7}" type="pres">
      <dgm:prSet presAssocID="{D9A65953-C40F-49CA-9BFF-489AFDCEFE9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085E56A-136A-4F2D-A6B4-3237A9427267}" type="presOf" srcId="{9ECC512A-9154-4020-B31F-37732F9CF63E}" destId="{FDBC00AA-F265-4590-92B8-757F0AA2A9FC}" srcOrd="0" destOrd="0" presId="urn:microsoft.com/office/officeart/2005/8/layout/vList2"/>
    <dgm:cxn modelId="{9275948E-BCB8-4028-8B1C-DF30C2BDD133}" type="presOf" srcId="{70EB580D-A000-434B-8947-E6E93A4A2E44}" destId="{1A2D2ECB-2EF3-4F32-AF43-A10BAA4F02BB}" srcOrd="0" destOrd="0" presId="urn:microsoft.com/office/officeart/2005/8/layout/vList2"/>
    <dgm:cxn modelId="{16533897-9FCF-41DC-B602-3F188AB3BFD9}" srcId="{9ECC512A-9154-4020-B31F-37732F9CF63E}" destId="{D9A65953-C40F-49CA-9BFF-489AFDCEFE9E}" srcOrd="1" destOrd="0" parTransId="{8EF99B73-1ED6-48B6-9613-B6889A28EC5A}" sibTransId="{EF358A88-D4EF-47B2-90D9-9C583BBA27F7}"/>
    <dgm:cxn modelId="{D51D3BB8-0971-4997-8B6E-87376B015E82}" type="presOf" srcId="{D9A65953-C40F-49CA-9BFF-489AFDCEFE9E}" destId="{1B781746-1295-4FD1-856C-79E282AACDD7}" srcOrd="0" destOrd="0" presId="urn:microsoft.com/office/officeart/2005/8/layout/vList2"/>
    <dgm:cxn modelId="{ECA7B8F4-78B7-49C0-AE34-AA1889A9278E}" srcId="{9ECC512A-9154-4020-B31F-37732F9CF63E}" destId="{70EB580D-A000-434B-8947-E6E93A4A2E44}" srcOrd="0" destOrd="0" parTransId="{656D9AD0-E95A-404E-88C9-04C8760CD965}" sibTransId="{C253BCCD-272B-46F3-9E25-BB4F874F6C22}"/>
    <dgm:cxn modelId="{B3474F27-44CE-4ADB-87C5-90EE7D4056F7}" type="presParOf" srcId="{FDBC00AA-F265-4590-92B8-757F0AA2A9FC}" destId="{1A2D2ECB-2EF3-4F32-AF43-A10BAA4F02BB}" srcOrd="0" destOrd="0" presId="urn:microsoft.com/office/officeart/2005/8/layout/vList2"/>
    <dgm:cxn modelId="{15C123A0-7B40-4C48-BF2B-1186C27104E0}" type="presParOf" srcId="{FDBC00AA-F265-4590-92B8-757F0AA2A9FC}" destId="{679503B8-5E40-4EE6-8119-964841BE4BC1}" srcOrd="1" destOrd="0" presId="urn:microsoft.com/office/officeart/2005/8/layout/vList2"/>
    <dgm:cxn modelId="{3E63D3C7-9CAD-4A9D-B99E-F4AB23561F13}" type="presParOf" srcId="{FDBC00AA-F265-4590-92B8-757F0AA2A9FC}" destId="{1B781746-1295-4FD1-856C-79E282AACDD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EAC24E-C2A8-43DD-9E6B-FA50587BE216}" type="doc">
      <dgm:prSet loTypeId="urn:microsoft.com/office/officeart/2005/8/layout/vList2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pt-PT"/>
        </a:p>
      </dgm:t>
    </dgm:pt>
    <dgm:pt modelId="{F7CBE359-B3EF-48FC-8A1E-C2B06FFFCD2B}">
      <dgm:prSet/>
      <dgm:spPr/>
      <dgm:t>
        <a:bodyPr/>
        <a:lstStyle/>
        <a:p>
          <a:pPr algn="just" rtl="0"/>
          <a:r>
            <a:rPr lang="pt-PT" b="1" u="sng" dirty="0"/>
            <a:t>Todos</a:t>
          </a:r>
          <a:r>
            <a:rPr lang="pt-PT" b="1" dirty="0"/>
            <a:t> aqueles que actuam no processo aprendizagem devem conhecer os princípios básicos com vista ao sucesso da aprendizagem.</a:t>
          </a:r>
          <a:endParaRPr lang="pt-PT" dirty="0"/>
        </a:p>
      </dgm:t>
    </dgm:pt>
    <dgm:pt modelId="{C3581607-95F1-426F-A29C-35E4B4B009ED}" type="parTrans" cxnId="{A02F9894-8741-4AF5-A8D6-D49037D92A16}">
      <dgm:prSet/>
      <dgm:spPr/>
      <dgm:t>
        <a:bodyPr/>
        <a:lstStyle/>
        <a:p>
          <a:endParaRPr lang="pt-PT"/>
        </a:p>
      </dgm:t>
    </dgm:pt>
    <dgm:pt modelId="{992C9E11-D5B5-4619-9DE7-24BDE5285D09}" type="sibTrans" cxnId="{A02F9894-8741-4AF5-A8D6-D49037D92A16}">
      <dgm:prSet/>
      <dgm:spPr/>
      <dgm:t>
        <a:bodyPr/>
        <a:lstStyle/>
        <a:p>
          <a:endParaRPr lang="pt-PT"/>
        </a:p>
      </dgm:t>
    </dgm:pt>
    <dgm:pt modelId="{61178601-C832-4D0A-A254-DA99A8B3CA4A}" type="pres">
      <dgm:prSet presAssocID="{C8EAC24E-C2A8-43DD-9E6B-FA50587BE216}" presName="linear" presStyleCnt="0">
        <dgm:presLayoutVars>
          <dgm:animLvl val="lvl"/>
          <dgm:resizeHandles val="exact"/>
        </dgm:presLayoutVars>
      </dgm:prSet>
      <dgm:spPr/>
    </dgm:pt>
    <dgm:pt modelId="{C21A0A90-C7AB-4891-9FC0-F441817925C1}" type="pres">
      <dgm:prSet presAssocID="{F7CBE359-B3EF-48FC-8A1E-C2B06FFFCD2B}" presName="parentText" presStyleLbl="node1" presStyleIdx="0" presStyleCnt="1" custScaleY="108318">
        <dgm:presLayoutVars>
          <dgm:chMax val="0"/>
          <dgm:bulletEnabled val="1"/>
        </dgm:presLayoutVars>
      </dgm:prSet>
      <dgm:spPr/>
    </dgm:pt>
  </dgm:ptLst>
  <dgm:cxnLst>
    <dgm:cxn modelId="{39175D03-5B2B-421B-A198-32645B10DDE7}" type="presOf" srcId="{C8EAC24E-C2A8-43DD-9E6B-FA50587BE216}" destId="{61178601-C832-4D0A-A254-DA99A8B3CA4A}" srcOrd="0" destOrd="0" presId="urn:microsoft.com/office/officeart/2005/8/layout/vList2"/>
    <dgm:cxn modelId="{5A3CC907-3767-4A46-974D-528239BB1679}" type="presOf" srcId="{F7CBE359-B3EF-48FC-8A1E-C2B06FFFCD2B}" destId="{C21A0A90-C7AB-4891-9FC0-F441817925C1}" srcOrd="0" destOrd="0" presId="urn:microsoft.com/office/officeart/2005/8/layout/vList2"/>
    <dgm:cxn modelId="{A02F9894-8741-4AF5-A8D6-D49037D92A16}" srcId="{C8EAC24E-C2A8-43DD-9E6B-FA50587BE216}" destId="{F7CBE359-B3EF-48FC-8A1E-C2B06FFFCD2B}" srcOrd="0" destOrd="0" parTransId="{C3581607-95F1-426F-A29C-35E4B4B009ED}" sibTransId="{992C9E11-D5B5-4619-9DE7-24BDE5285D09}"/>
    <dgm:cxn modelId="{7302C4C0-B293-47E6-8BAC-D5DD4E75D301}" type="presParOf" srcId="{61178601-C832-4D0A-A254-DA99A8B3CA4A}" destId="{C21A0A90-C7AB-4891-9FC0-F441817925C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0DC8BDF-00C3-4B7B-8D92-B2067F6FA1F2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pt-PT"/>
        </a:p>
      </dgm:t>
    </dgm:pt>
    <dgm:pt modelId="{CE77E811-AEEE-4573-A9A0-260F2F7FF09A}">
      <dgm:prSet/>
      <dgm:spPr/>
      <dgm:t>
        <a:bodyPr/>
        <a:lstStyle/>
        <a:p>
          <a:pPr algn="just" rtl="0"/>
          <a:r>
            <a:rPr lang="pt-PT" b="1" dirty="0"/>
            <a:t>Portaria 185/2015, art.º 10 nº1   </a:t>
          </a:r>
        </a:p>
        <a:p>
          <a:pPr algn="just" rtl="0"/>
          <a:r>
            <a:rPr lang="pt-PT" b="1" dirty="0"/>
            <a:t> </a:t>
          </a:r>
          <a:r>
            <a:rPr lang="pt-PT" b="1" u="sng" dirty="0"/>
            <a:t>O instrutor, em colaboração com o diretor </a:t>
          </a:r>
          <a:r>
            <a:rPr lang="pt-PT" b="1" dirty="0"/>
            <a:t>de escola de condução, </a:t>
          </a:r>
          <a:r>
            <a:rPr lang="pt-PT" b="1" dirty="0">
              <a:solidFill>
                <a:srgbClr val="FF0000"/>
              </a:solidFill>
            </a:rPr>
            <a:t>deve planificar cada módulo de formação teórico e prático</a:t>
          </a:r>
          <a:r>
            <a:rPr lang="pt-PT" b="1" dirty="0"/>
            <a:t>, </a:t>
          </a:r>
          <a:r>
            <a:rPr lang="pt-PT" b="1" u="sng" dirty="0"/>
            <a:t>especificando os objetivos de formação, os recursos ou meios a utilizar, métodos e técnicas pedagógicas a adotar e critérios de avaliação formativa.</a:t>
          </a:r>
          <a:endParaRPr lang="pt-PT" u="sng" dirty="0"/>
        </a:p>
      </dgm:t>
    </dgm:pt>
    <dgm:pt modelId="{7F88F134-FA8D-49FE-A7D6-37BFEA550D46}" type="parTrans" cxnId="{C8F1514E-8B81-4694-89FF-22A84BF66459}">
      <dgm:prSet/>
      <dgm:spPr/>
      <dgm:t>
        <a:bodyPr/>
        <a:lstStyle/>
        <a:p>
          <a:endParaRPr lang="pt-PT"/>
        </a:p>
      </dgm:t>
    </dgm:pt>
    <dgm:pt modelId="{0192DB65-1FB8-44F4-9F5A-3F128C8A0697}" type="sibTrans" cxnId="{C8F1514E-8B81-4694-89FF-22A84BF66459}">
      <dgm:prSet/>
      <dgm:spPr/>
      <dgm:t>
        <a:bodyPr/>
        <a:lstStyle/>
        <a:p>
          <a:endParaRPr lang="pt-PT"/>
        </a:p>
      </dgm:t>
    </dgm:pt>
    <dgm:pt modelId="{6CC1F3BC-7F76-4B66-8C7A-790C80B0486F}">
      <dgm:prSet/>
      <dgm:spPr/>
      <dgm:t>
        <a:bodyPr/>
        <a:lstStyle/>
        <a:p>
          <a:pPr algn="just" rtl="0"/>
          <a:r>
            <a:rPr lang="pt-PT" dirty="0"/>
            <a:t>Lei 14/2014 art.º 4 alínea a)  </a:t>
          </a:r>
        </a:p>
        <a:p>
          <a:pPr algn="just" rtl="0"/>
          <a:r>
            <a:rPr lang="pt-PT" dirty="0"/>
            <a:t> </a:t>
          </a:r>
          <a:r>
            <a:rPr lang="pt-PT" b="1" dirty="0">
              <a:solidFill>
                <a:srgbClr val="FF0000"/>
              </a:solidFill>
            </a:rPr>
            <a:t>Ensino da condução </a:t>
          </a:r>
          <a:r>
            <a:rPr lang="pt-PT" dirty="0"/>
            <a:t>— </a:t>
          </a:r>
          <a:r>
            <a:rPr lang="pt-PT" b="1" dirty="0"/>
            <a:t>o ensino teórico e prático </a:t>
          </a:r>
          <a:r>
            <a:rPr lang="pt-PT" b="1" u="sng" dirty="0"/>
            <a:t>com vista à aquisição ou reaquisição de competências para a condução em segurança</a:t>
          </a:r>
          <a:r>
            <a:rPr lang="pt-PT" b="1" dirty="0"/>
            <a:t>;</a:t>
          </a:r>
        </a:p>
      </dgm:t>
    </dgm:pt>
    <dgm:pt modelId="{0BCF9C2C-AA0C-4604-B9EC-4AF2218B882C}" type="parTrans" cxnId="{93883F37-A134-4E0E-810E-7FF6DE810D3E}">
      <dgm:prSet/>
      <dgm:spPr/>
      <dgm:t>
        <a:bodyPr/>
        <a:lstStyle/>
        <a:p>
          <a:endParaRPr lang="pt-PT"/>
        </a:p>
      </dgm:t>
    </dgm:pt>
    <dgm:pt modelId="{24FC7F3C-78AE-4F1C-AB86-E95B426BD8F0}" type="sibTrans" cxnId="{93883F37-A134-4E0E-810E-7FF6DE810D3E}">
      <dgm:prSet/>
      <dgm:spPr/>
      <dgm:t>
        <a:bodyPr/>
        <a:lstStyle/>
        <a:p>
          <a:endParaRPr lang="pt-PT"/>
        </a:p>
      </dgm:t>
    </dgm:pt>
    <dgm:pt modelId="{F30437D0-BDE5-4EB8-A264-36F1A5F64A33}" type="pres">
      <dgm:prSet presAssocID="{50DC8BDF-00C3-4B7B-8D92-B2067F6FA1F2}" presName="linear" presStyleCnt="0">
        <dgm:presLayoutVars>
          <dgm:animLvl val="lvl"/>
          <dgm:resizeHandles val="exact"/>
        </dgm:presLayoutVars>
      </dgm:prSet>
      <dgm:spPr/>
    </dgm:pt>
    <dgm:pt modelId="{4503DD18-1BAD-403C-872C-111D5C496A8C}" type="pres">
      <dgm:prSet presAssocID="{CE77E811-AEEE-4573-A9A0-260F2F7FF0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4DB292-8945-4465-B0F0-0DDF6FD164C9}" type="pres">
      <dgm:prSet presAssocID="{0192DB65-1FB8-44F4-9F5A-3F128C8A0697}" presName="spacer" presStyleCnt="0"/>
      <dgm:spPr/>
    </dgm:pt>
    <dgm:pt modelId="{1C39BE88-A29F-4671-9F0C-074F16669447}" type="pres">
      <dgm:prSet presAssocID="{6CC1F3BC-7F76-4B66-8C7A-790C80B0486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3883F37-A134-4E0E-810E-7FF6DE810D3E}" srcId="{50DC8BDF-00C3-4B7B-8D92-B2067F6FA1F2}" destId="{6CC1F3BC-7F76-4B66-8C7A-790C80B0486F}" srcOrd="1" destOrd="0" parTransId="{0BCF9C2C-AA0C-4604-B9EC-4AF2218B882C}" sibTransId="{24FC7F3C-78AE-4F1C-AB86-E95B426BD8F0}"/>
    <dgm:cxn modelId="{BFB6CA47-1B20-4F42-AE6C-55A5008F465D}" type="presOf" srcId="{50DC8BDF-00C3-4B7B-8D92-B2067F6FA1F2}" destId="{F30437D0-BDE5-4EB8-A264-36F1A5F64A33}" srcOrd="0" destOrd="0" presId="urn:microsoft.com/office/officeart/2005/8/layout/vList2"/>
    <dgm:cxn modelId="{C8F1514E-8B81-4694-89FF-22A84BF66459}" srcId="{50DC8BDF-00C3-4B7B-8D92-B2067F6FA1F2}" destId="{CE77E811-AEEE-4573-A9A0-260F2F7FF09A}" srcOrd="0" destOrd="0" parTransId="{7F88F134-FA8D-49FE-A7D6-37BFEA550D46}" sibTransId="{0192DB65-1FB8-44F4-9F5A-3F128C8A0697}"/>
    <dgm:cxn modelId="{176B7053-C886-49C8-B835-846C5288471F}" type="presOf" srcId="{CE77E811-AEEE-4573-A9A0-260F2F7FF09A}" destId="{4503DD18-1BAD-403C-872C-111D5C496A8C}" srcOrd="0" destOrd="0" presId="urn:microsoft.com/office/officeart/2005/8/layout/vList2"/>
    <dgm:cxn modelId="{3218F091-3D70-4DFF-AF13-28C87564B20C}" type="presOf" srcId="{6CC1F3BC-7F76-4B66-8C7A-790C80B0486F}" destId="{1C39BE88-A29F-4671-9F0C-074F16669447}" srcOrd="0" destOrd="0" presId="urn:microsoft.com/office/officeart/2005/8/layout/vList2"/>
    <dgm:cxn modelId="{81DD6669-EFDF-4D9F-96E5-738BDBDA491C}" type="presParOf" srcId="{F30437D0-BDE5-4EB8-A264-36F1A5F64A33}" destId="{4503DD18-1BAD-403C-872C-111D5C496A8C}" srcOrd="0" destOrd="0" presId="urn:microsoft.com/office/officeart/2005/8/layout/vList2"/>
    <dgm:cxn modelId="{A5D386E1-9990-4160-B9CD-A04ED4281C17}" type="presParOf" srcId="{F30437D0-BDE5-4EB8-A264-36F1A5F64A33}" destId="{BB4DB292-8945-4465-B0F0-0DDF6FD164C9}" srcOrd="1" destOrd="0" presId="urn:microsoft.com/office/officeart/2005/8/layout/vList2"/>
    <dgm:cxn modelId="{4F89662A-78B3-410A-8B5E-0B59CB6FC566}" type="presParOf" srcId="{F30437D0-BDE5-4EB8-A264-36F1A5F64A33}" destId="{1C39BE88-A29F-4671-9F0C-074F1666944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6D591A2-D98A-4265-A664-2F0A50DB04C2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pt-PT"/>
        </a:p>
      </dgm:t>
    </dgm:pt>
    <dgm:pt modelId="{3DC04CE0-A9DC-4EF2-BC4C-89F86B94C494}">
      <dgm:prSet custT="1"/>
      <dgm:spPr/>
      <dgm:t>
        <a:bodyPr/>
        <a:lstStyle/>
        <a:p>
          <a:pPr algn="just" rtl="0"/>
          <a:r>
            <a:rPr lang="pt-PT" sz="2000" dirty="0"/>
            <a:t>Lei 14/2014 art.º 35 alínea c  </a:t>
          </a:r>
        </a:p>
        <a:p>
          <a:pPr algn="just" rtl="0"/>
          <a:r>
            <a:rPr lang="pt-PT" sz="4000" dirty="0"/>
            <a:t> </a:t>
          </a:r>
          <a:r>
            <a:rPr lang="pt-PT" sz="4000" b="1" dirty="0"/>
            <a:t>É dever do Instrutor, Aplicar, correcta e completamente, os conteúdos programáticos em vigor</a:t>
          </a:r>
          <a:r>
            <a:rPr lang="pt-PT" sz="4000" dirty="0"/>
            <a:t>, utilizando os </a:t>
          </a:r>
          <a:r>
            <a:rPr lang="pt-PT" sz="4000" b="1" dirty="0"/>
            <a:t>métodos e técnicas de ensino e o material didáctico adequados.</a:t>
          </a:r>
          <a:endParaRPr lang="pt-PT" sz="4000" dirty="0"/>
        </a:p>
      </dgm:t>
    </dgm:pt>
    <dgm:pt modelId="{18E3C060-3C87-4ABA-B8A1-4E0FB06E1A73}" type="parTrans" cxnId="{AFC67B4D-D807-4138-B507-D1E413248400}">
      <dgm:prSet/>
      <dgm:spPr/>
      <dgm:t>
        <a:bodyPr/>
        <a:lstStyle/>
        <a:p>
          <a:endParaRPr lang="pt-PT"/>
        </a:p>
      </dgm:t>
    </dgm:pt>
    <dgm:pt modelId="{ED6707DA-1917-448A-B83C-2E9989FCF66B}" type="sibTrans" cxnId="{AFC67B4D-D807-4138-B507-D1E413248400}">
      <dgm:prSet/>
      <dgm:spPr/>
      <dgm:t>
        <a:bodyPr/>
        <a:lstStyle/>
        <a:p>
          <a:endParaRPr lang="pt-PT"/>
        </a:p>
      </dgm:t>
    </dgm:pt>
    <dgm:pt modelId="{89D9DE9B-BB80-42FF-BCC4-E212F4264448}" type="pres">
      <dgm:prSet presAssocID="{46D591A2-D98A-4265-A664-2F0A50DB04C2}" presName="linear" presStyleCnt="0">
        <dgm:presLayoutVars>
          <dgm:animLvl val="lvl"/>
          <dgm:resizeHandles val="exact"/>
        </dgm:presLayoutVars>
      </dgm:prSet>
      <dgm:spPr/>
    </dgm:pt>
    <dgm:pt modelId="{A52F6A5D-0951-40F5-80EB-2A6B1A23A095}" type="pres">
      <dgm:prSet presAssocID="{3DC04CE0-A9DC-4EF2-BC4C-89F86B94C49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FC67B4D-D807-4138-B507-D1E413248400}" srcId="{46D591A2-D98A-4265-A664-2F0A50DB04C2}" destId="{3DC04CE0-A9DC-4EF2-BC4C-89F86B94C494}" srcOrd="0" destOrd="0" parTransId="{18E3C060-3C87-4ABA-B8A1-4E0FB06E1A73}" sibTransId="{ED6707DA-1917-448A-B83C-2E9989FCF66B}"/>
    <dgm:cxn modelId="{FE8B1273-3B9B-40A0-954B-7FE258109EF5}" type="presOf" srcId="{3DC04CE0-A9DC-4EF2-BC4C-89F86B94C494}" destId="{A52F6A5D-0951-40F5-80EB-2A6B1A23A095}" srcOrd="0" destOrd="0" presId="urn:microsoft.com/office/officeart/2005/8/layout/vList2"/>
    <dgm:cxn modelId="{FA145CF6-A92A-4C1F-A04A-6CC63A13A941}" type="presOf" srcId="{46D591A2-D98A-4265-A664-2F0A50DB04C2}" destId="{89D9DE9B-BB80-42FF-BCC4-E212F4264448}" srcOrd="0" destOrd="0" presId="urn:microsoft.com/office/officeart/2005/8/layout/vList2"/>
    <dgm:cxn modelId="{47D9D05C-B733-4305-9504-CB059482B0DB}" type="presParOf" srcId="{89D9DE9B-BB80-42FF-BCC4-E212F4264448}" destId="{A52F6A5D-0951-40F5-80EB-2A6B1A23A09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A961FA9-6087-4B32-BDB5-FBA147CFBFEB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pt-PT"/>
        </a:p>
      </dgm:t>
    </dgm:pt>
    <dgm:pt modelId="{E300AA28-AF2D-4F4A-ADBC-7077B1B8A09D}">
      <dgm:prSet custT="1"/>
      <dgm:spPr/>
      <dgm:t>
        <a:bodyPr/>
        <a:lstStyle/>
        <a:p>
          <a:pPr algn="l" rtl="0"/>
          <a:r>
            <a:rPr lang="pt-PT" sz="2000" dirty="0"/>
            <a:t>Lei 14/2014 Artigo 52.º</a:t>
          </a:r>
        </a:p>
        <a:p>
          <a:pPr algn="just" rtl="0"/>
          <a:r>
            <a:rPr lang="pt-PT" sz="3600" dirty="0"/>
            <a:t>A direcção de escola de condução é exercida por um </a:t>
          </a:r>
          <a:r>
            <a:rPr lang="pt-PT" sz="3600" u="sng" dirty="0"/>
            <a:t>director </a:t>
          </a:r>
          <a:r>
            <a:rPr lang="pt-PT" sz="3600" dirty="0"/>
            <a:t>habilitado, a quem </a:t>
          </a:r>
          <a:r>
            <a:rPr lang="pt-PT" sz="3600" u="sng" dirty="0"/>
            <a:t>compete</a:t>
          </a:r>
          <a:r>
            <a:rPr lang="pt-PT" sz="3600" dirty="0"/>
            <a:t>, essencialmente, a </a:t>
          </a:r>
          <a:r>
            <a:rPr lang="pt-PT" sz="3600" b="1" dirty="0"/>
            <a:t>coordenação pedagógica do ensino de condução</a:t>
          </a:r>
          <a:r>
            <a:rPr lang="pt-PT" sz="3600" dirty="0"/>
            <a:t>, para além da </a:t>
          </a:r>
          <a:r>
            <a:rPr lang="pt-PT" sz="3600" b="1" dirty="0"/>
            <a:t>gestão corrente da escola</a:t>
          </a:r>
          <a:r>
            <a:rPr lang="pt-PT" sz="3600" dirty="0"/>
            <a:t>.</a:t>
          </a:r>
        </a:p>
      </dgm:t>
    </dgm:pt>
    <dgm:pt modelId="{42AE46B1-527C-40C1-907E-2B475AC18BEE}" type="parTrans" cxnId="{9D264A8A-2754-4D8E-9B69-15407AE5E8CC}">
      <dgm:prSet/>
      <dgm:spPr/>
      <dgm:t>
        <a:bodyPr/>
        <a:lstStyle/>
        <a:p>
          <a:endParaRPr lang="pt-PT"/>
        </a:p>
      </dgm:t>
    </dgm:pt>
    <dgm:pt modelId="{241D9043-7054-4DD1-9A5B-9B28410C12B7}" type="sibTrans" cxnId="{9D264A8A-2754-4D8E-9B69-15407AE5E8CC}">
      <dgm:prSet/>
      <dgm:spPr/>
      <dgm:t>
        <a:bodyPr/>
        <a:lstStyle/>
        <a:p>
          <a:endParaRPr lang="pt-PT"/>
        </a:p>
      </dgm:t>
    </dgm:pt>
    <dgm:pt modelId="{66E3FB54-C172-406E-A526-3A2532BE6596}" type="pres">
      <dgm:prSet presAssocID="{3A961FA9-6087-4B32-BDB5-FBA147CFBFEB}" presName="linear" presStyleCnt="0">
        <dgm:presLayoutVars>
          <dgm:animLvl val="lvl"/>
          <dgm:resizeHandles val="exact"/>
        </dgm:presLayoutVars>
      </dgm:prSet>
      <dgm:spPr/>
    </dgm:pt>
    <dgm:pt modelId="{B85967B5-8772-43D8-BBD2-97A74A5989F6}" type="pres">
      <dgm:prSet presAssocID="{E300AA28-AF2D-4F4A-ADBC-7077B1B8A0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9419820-EFD5-4AA1-A1A9-8306CCAE836B}" type="presOf" srcId="{3A961FA9-6087-4B32-BDB5-FBA147CFBFEB}" destId="{66E3FB54-C172-406E-A526-3A2532BE6596}" srcOrd="0" destOrd="0" presId="urn:microsoft.com/office/officeart/2005/8/layout/vList2"/>
    <dgm:cxn modelId="{4800245C-1AD3-412F-94EF-DE51EAC4CBC5}" type="presOf" srcId="{E300AA28-AF2D-4F4A-ADBC-7077B1B8A09D}" destId="{B85967B5-8772-43D8-BBD2-97A74A5989F6}" srcOrd="0" destOrd="0" presId="urn:microsoft.com/office/officeart/2005/8/layout/vList2"/>
    <dgm:cxn modelId="{9D264A8A-2754-4D8E-9B69-15407AE5E8CC}" srcId="{3A961FA9-6087-4B32-BDB5-FBA147CFBFEB}" destId="{E300AA28-AF2D-4F4A-ADBC-7077B1B8A09D}" srcOrd="0" destOrd="0" parTransId="{42AE46B1-527C-40C1-907E-2B475AC18BEE}" sibTransId="{241D9043-7054-4DD1-9A5B-9B28410C12B7}"/>
    <dgm:cxn modelId="{201C3252-8355-474F-B2FF-8AF18F3F2A74}" type="presParOf" srcId="{66E3FB54-C172-406E-A526-3A2532BE6596}" destId="{B85967B5-8772-43D8-BBD2-97A74A5989F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BA199-56ED-44CA-8B01-2129EBF7046D}">
      <dsp:nvSpPr>
        <dsp:cNvPr id="0" name=""/>
        <dsp:cNvSpPr/>
      </dsp:nvSpPr>
      <dsp:spPr>
        <a:xfrm>
          <a:off x="0" y="7857"/>
          <a:ext cx="9875520" cy="13513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200" b="1" i="1" kern="1200" dirty="0"/>
            <a:t>Psiqué </a:t>
          </a:r>
          <a:r>
            <a:rPr lang="pt-PT" sz="3200" b="1" kern="1200" dirty="0"/>
            <a:t>+ </a:t>
          </a:r>
          <a:r>
            <a:rPr lang="pt-PT" sz="3200" b="1" i="1" kern="1200" dirty="0"/>
            <a:t>logos </a:t>
          </a:r>
          <a:endParaRPr lang="pt-PT" sz="3200" b="1" kern="1200" dirty="0"/>
        </a:p>
      </dsp:txBody>
      <dsp:txXfrm>
        <a:off x="65967" y="73824"/>
        <a:ext cx="9743586" cy="1219416"/>
      </dsp:txXfrm>
    </dsp:sp>
    <dsp:sp modelId="{DBCC4836-99BA-45A7-A3E7-800A7CC8F49D}">
      <dsp:nvSpPr>
        <dsp:cNvPr id="0" name=""/>
        <dsp:cNvSpPr/>
      </dsp:nvSpPr>
      <dsp:spPr>
        <a:xfrm>
          <a:off x="0" y="1451028"/>
          <a:ext cx="9875520" cy="1351350"/>
        </a:xfrm>
        <a:prstGeom prst="roundRect">
          <a:avLst/>
        </a:prstGeom>
        <a:solidFill>
          <a:schemeClr val="accent3">
            <a:hueOff val="337438"/>
            <a:satOff val="17272"/>
            <a:lumOff val="7255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just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b="1" i="1" kern="1200" dirty="0"/>
            <a:t>“Estudo científico dos comportamentos e dos processos mentais.” </a:t>
          </a:r>
        </a:p>
        <a:p>
          <a:pPr marL="0" lvl="0" indent="0" algn="just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/>
            <a:t>– personalidade, aprendizagem, memória, inteligência, comunicação interpessoal, desenvolvimento, comportamento em grupo, atitudes....</a:t>
          </a:r>
        </a:p>
      </dsp:txBody>
      <dsp:txXfrm>
        <a:off x="65967" y="1516995"/>
        <a:ext cx="9743586" cy="1219416"/>
      </dsp:txXfrm>
    </dsp:sp>
    <dsp:sp modelId="{6B78D038-A0A7-47C0-B0D4-472E135C8CE3}">
      <dsp:nvSpPr>
        <dsp:cNvPr id="0" name=""/>
        <dsp:cNvSpPr/>
      </dsp:nvSpPr>
      <dsp:spPr>
        <a:xfrm>
          <a:off x="0" y="2865738"/>
          <a:ext cx="9875520" cy="1351350"/>
        </a:xfrm>
        <a:prstGeom prst="roundRect">
          <a:avLst/>
        </a:prstGeom>
        <a:solidFill>
          <a:schemeClr val="accent3">
            <a:hueOff val="674876"/>
            <a:satOff val="34544"/>
            <a:lumOff val="1451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“Ciência / estudo do comportamento animal e humano.” (individual ou em grupo)</a:t>
          </a:r>
          <a:endParaRPr lang="pt-PT" sz="2400" kern="1200" dirty="0"/>
        </a:p>
      </dsp:txBody>
      <dsp:txXfrm>
        <a:off x="65967" y="2931705"/>
        <a:ext cx="9743586" cy="1219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37C6F2-904D-4306-AD42-87439D06326B}">
      <dsp:nvSpPr>
        <dsp:cNvPr id="0" name=""/>
        <dsp:cNvSpPr/>
      </dsp:nvSpPr>
      <dsp:spPr>
        <a:xfrm>
          <a:off x="0" y="16125"/>
          <a:ext cx="10585176" cy="9149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b="1" kern="1200" dirty="0"/>
            <a:t>“A psicologia nunca poderá dizer a verdade sobre a loucura, pois é a loucura que detém a verdade da psicologia.” M. Foucault</a:t>
          </a:r>
          <a:endParaRPr lang="pt-PT" sz="2300" kern="1200" dirty="0"/>
        </a:p>
      </dsp:txBody>
      <dsp:txXfrm>
        <a:off x="44664" y="60789"/>
        <a:ext cx="10495848" cy="825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47100-FF2D-4595-9A76-08FB22C667F7}">
      <dsp:nvSpPr>
        <dsp:cNvPr id="0" name=""/>
        <dsp:cNvSpPr/>
      </dsp:nvSpPr>
      <dsp:spPr>
        <a:xfrm>
          <a:off x="0" y="514509"/>
          <a:ext cx="9505056" cy="9881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b="1" kern="1200" dirty="0"/>
            <a:t>paidós (criança) e agogé (condução);</a:t>
          </a:r>
        </a:p>
      </dsp:txBody>
      <dsp:txXfrm>
        <a:off x="48235" y="562744"/>
        <a:ext cx="9408586" cy="891631"/>
      </dsp:txXfrm>
    </dsp:sp>
    <dsp:sp modelId="{542897D3-1BA9-48FE-8386-A24847A70CF4}">
      <dsp:nvSpPr>
        <dsp:cNvPr id="0" name=""/>
        <dsp:cNvSpPr/>
      </dsp:nvSpPr>
      <dsp:spPr>
        <a:xfrm>
          <a:off x="0" y="1663260"/>
          <a:ext cx="9505056" cy="9881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Os objectos de estudos centram-se na educação, no processo, ensino e na aprendizagem;</a:t>
          </a:r>
        </a:p>
      </dsp:txBody>
      <dsp:txXfrm>
        <a:off x="48235" y="1711495"/>
        <a:ext cx="9408586" cy="891631"/>
      </dsp:txXfrm>
    </dsp:sp>
    <dsp:sp modelId="{59CAE666-D3A6-452B-8DF3-C86ED3AE9161}">
      <dsp:nvSpPr>
        <dsp:cNvPr id="0" name=""/>
        <dsp:cNvSpPr/>
      </dsp:nvSpPr>
      <dsp:spPr>
        <a:xfrm>
          <a:off x="0" y="2634712"/>
          <a:ext cx="9505056" cy="9881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 dirty="0"/>
            <a:t>“Conjunto de teorias e princípios , metodologias e técnicas a ter em consideração quando se pretende transmitir conhecimentos”. </a:t>
          </a:r>
        </a:p>
      </dsp:txBody>
      <dsp:txXfrm>
        <a:off x="48235" y="2682947"/>
        <a:ext cx="9408586" cy="8916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64E1F-637B-4819-8281-050B746B0ECE}">
      <dsp:nvSpPr>
        <dsp:cNvPr id="0" name=""/>
        <dsp:cNvSpPr/>
      </dsp:nvSpPr>
      <dsp:spPr>
        <a:xfrm>
          <a:off x="0" y="77539"/>
          <a:ext cx="10585176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“</a:t>
          </a:r>
          <a:r>
            <a:rPr lang="pt-PT" sz="2500" i="1" kern="1200" dirty="0"/>
            <a:t>A mente que se abre a uma nova ideia jamais voltará ao seu tamanho original</a:t>
          </a:r>
          <a:r>
            <a:rPr lang="pt-PT" sz="2500" kern="1200" dirty="0"/>
            <a:t>” A. Einstein </a:t>
          </a:r>
        </a:p>
      </dsp:txBody>
      <dsp:txXfrm>
        <a:off x="48547" y="126086"/>
        <a:ext cx="10488082" cy="897406"/>
      </dsp:txXfrm>
    </dsp:sp>
    <dsp:sp modelId="{29CD3B48-9FC9-4C9F-A3C7-1A253DC02D3E}">
      <dsp:nvSpPr>
        <dsp:cNvPr id="0" name=""/>
        <dsp:cNvSpPr/>
      </dsp:nvSpPr>
      <dsp:spPr>
        <a:xfrm>
          <a:off x="0" y="1144039"/>
          <a:ext cx="10585176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“</a:t>
          </a:r>
          <a:r>
            <a:rPr lang="pt-PT" sz="2500" i="1" kern="1200" dirty="0"/>
            <a:t>O professor só pode ensinar quando se está disposto a aprender</a:t>
          </a:r>
          <a:r>
            <a:rPr lang="pt-PT" sz="2500" kern="1200" dirty="0"/>
            <a:t>” J. </a:t>
          </a:r>
          <a:r>
            <a:rPr lang="pt-PT" sz="2500" kern="1200" dirty="0" err="1"/>
            <a:t>Mamedes</a:t>
          </a:r>
          <a:r>
            <a:rPr lang="pt-PT" sz="2500" kern="1200" dirty="0"/>
            <a:t> </a:t>
          </a:r>
        </a:p>
      </dsp:txBody>
      <dsp:txXfrm>
        <a:off x="48547" y="1192586"/>
        <a:ext cx="10488082" cy="897406"/>
      </dsp:txXfrm>
    </dsp:sp>
    <dsp:sp modelId="{D8468413-E036-41DE-BB83-FD19C0F74028}">
      <dsp:nvSpPr>
        <dsp:cNvPr id="0" name=""/>
        <dsp:cNvSpPr/>
      </dsp:nvSpPr>
      <dsp:spPr>
        <a:xfrm>
          <a:off x="0" y="2210539"/>
          <a:ext cx="10585176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 dirty="0"/>
            <a:t>“Educação nunca foi despesa. Sempre foi investimento com retorno garantido.” </a:t>
          </a:r>
          <a:r>
            <a:rPr lang="pt-PT" sz="2500" kern="1200" dirty="0"/>
            <a:t>Sir Arthur Lewis</a:t>
          </a:r>
        </a:p>
      </dsp:txBody>
      <dsp:txXfrm>
        <a:off x="48547" y="2259086"/>
        <a:ext cx="10488082" cy="897406"/>
      </dsp:txXfrm>
    </dsp:sp>
    <dsp:sp modelId="{5EB767A4-F1D6-4F49-A097-5D3D6C012ACC}">
      <dsp:nvSpPr>
        <dsp:cNvPr id="0" name=""/>
        <dsp:cNvSpPr/>
      </dsp:nvSpPr>
      <dsp:spPr>
        <a:xfrm>
          <a:off x="0" y="3286786"/>
          <a:ext cx="10585176" cy="9945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b="1" kern="1200"/>
            <a:t>“Educar é semear com sabedoria e colher com paciência.” </a:t>
          </a:r>
          <a:r>
            <a:rPr lang="pt-PT" sz="2500" kern="1200"/>
            <a:t>A. Cury</a:t>
          </a:r>
        </a:p>
      </dsp:txBody>
      <dsp:txXfrm>
        <a:off x="48547" y="3335333"/>
        <a:ext cx="10488082" cy="8974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36F2F-8631-4A34-A6E4-CFA634DBBA25}">
      <dsp:nvSpPr>
        <dsp:cNvPr id="0" name=""/>
        <dsp:cNvSpPr/>
      </dsp:nvSpPr>
      <dsp:spPr>
        <a:xfrm>
          <a:off x="0" y="44671"/>
          <a:ext cx="10137576" cy="1759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200" b="1" kern="1200" dirty="0"/>
            <a:t>Psicologia </a:t>
          </a:r>
          <a:r>
            <a:rPr lang="pt-PT" sz="3200" kern="1200" dirty="0"/>
            <a:t>- permite decompor a condução nas suas actividades elementares no sentido de identificar os diversos processos psicológicos nela implicados.</a:t>
          </a:r>
        </a:p>
      </dsp:txBody>
      <dsp:txXfrm>
        <a:off x="85900" y="130571"/>
        <a:ext cx="9965776" cy="1587880"/>
      </dsp:txXfrm>
    </dsp:sp>
    <dsp:sp modelId="{BD11CEE6-5EC1-412E-962D-ED6A8540E49C}">
      <dsp:nvSpPr>
        <dsp:cNvPr id="0" name=""/>
        <dsp:cNvSpPr/>
      </dsp:nvSpPr>
      <dsp:spPr>
        <a:xfrm>
          <a:off x="0" y="1896511"/>
          <a:ext cx="10137576" cy="1759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just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200" b="1" kern="1200" dirty="0"/>
            <a:t>Permite explicar porque é que, face a determinada situação, o indivíduo apresenta um dado comportamento.</a:t>
          </a:r>
          <a:endParaRPr lang="pt-PT" sz="3200" kern="1200" dirty="0"/>
        </a:p>
      </dsp:txBody>
      <dsp:txXfrm>
        <a:off x="85900" y="1982411"/>
        <a:ext cx="9965776" cy="15878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725D1-EB0E-4EC8-890C-47A7F65EB580}">
      <dsp:nvSpPr>
        <dsp:cNvPr id="0" name=""/>
        <dsp:cNvSpPr/>
      </dsp:nvSpPr>
      <dsp:spPr>
        <a:xfrm>
          <a:off x="0" y="27507"/>
          <a:ext cx="10009112" cy="178131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/>
            <a:t>Pedagogia </a:t>
          </a:r>
          <a:r>
            <a:rPr lang="pt-PT" sz="2400" kern="1200" dirty="0"/>
            <a:t>- permite analisar os vários métodos de ensino, possibilitando a escolha da metodologia mais correcta em função dos formandos, com o objectivo de melhorar a qualidade de ensino.</a:t>
          </a:r>
        </a:p>
      </dsp:txBody>
      <dsp:txXfrm>
        <a:off x="86957" y="114464"/>
        <a:ext cx="9835198" cy="1607404"/>
      </dsp:txXfrm>
    </dsp:sp>
    <dsp:sp modelId="{61C38EDD-771C-4926-9FCC-C8276D7B4D22}">
      <dsp:nvSpPr>
        <dsp:cNvPr id="0" name=""/>
        <dsp:cNvSpPr/>
      </dsp:nvSpPr>
      <dsp:spPr>
        <a:xfrm>
          <a:off x="0" y="1972985"/>
          <a:ext cx="10009112" cy="141248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100" b="1" kern="1200"/>
            <a:t>A aprendizagem da condução não é inata.</a:t>
          </a:r>
          <a:endParaRPr lang="pt-PT" sz="4100" kern="1200"/>
        </a:p>
      </dsp:txBody>
      <dsp:txXfrm>
        <a:off x="68952" y="2041937"/>
        <a:ext cx="9871208" cy="12745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D2ECB-2EF3-4F32-AF43-A10BAA4F02BB}">
      <dsp:nvSpPr>
        <dsp:cNvPr id="0" name=""/>
        <dsp:cNvSpPr/>
      </dsp:nvSpPr>
      <dsp:spPr>
        <a:xfrm>
          <a:off x="0" y="49836"/>
          <a:ext cx="9875520" cy="1319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/>
            <a:t>É o campo do saber que se constrói a partir de dois saberes e práticas: a </a:t>
          </a:r>
          <a:r>
            <a:rPr lang="pt-PT" sz="2400" b="1" kern="1200" dirty="0">
              <a:solidFill>
                <a:srgbClr val="C00000"/>
              </a:solidFill>
            </a:rPr>
            <a:t>psicologia</a:t>
          </a:r>
          <a:r>
            <a:rPr lang="pt-PT" sz="2400" b="1" kern="1200" dirty="0"/>
            <a:t> </a:t>
          </a:r>
          <a:r>
            <a:rPr lang="pt-PT" sz="2400" kern="1200" dirty="0"/>
            <a:t>(comportamento em interacção) e a </a:t>
          </a:r>
          <a:r>
            <a:rPr lang="pt-PT" sz="2400" b="1" kern="1200" dirty="0">
              <a:solidFill>
                <a:srgbClr val="C00000"/>
              </a:solidFill>
            </a:rPr>
            <a:t>pedagogia</a:t>
          </a:r>
          <a:r>
            <a:rPr lang="pt-PT" sz="2400" b="1" kern="1200" dirty="0"/>
            <a:t> </a:t>
          </a:r>
          <a:r>
            <a:rPr lang="pt-PT" sz="2400" kern="1200" dirty="0"/>
            <a:t>(métodos/técnicas de ensino).</a:t>
          </a:r>
        </a:p>
      </dsp:txBody>
      <dsp:txXfrm>
        <a:off x="64425" y="114261"/>
        <a:ext cx="9746670" cy="1190909"/>
      </dsp:txXfrm>
    </dsp:sp>
    <dsp:sp modelId="{1B781746-1295-4FD1-856C-79E282AACDD7}">
      <dsp:nvSpPr>
        <dsp:cNvPr id="0" name=""/>
        <dsp:cNvSpPr/>
      </dsp:nvSpPr>
      <dsp:spPr>
        <a:xfrm>
          <a:off x="0" y="1438716"/>
          <a:ext cx="9875520" cy="1319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/>
            <a:t>Na condução permite perceber os </a:t>
          </a:r>
          <a:r>
            <a:rPr lang="pt-PT" sz="2400" u="sng" kern="1200" dirty="0"/>
            <a:t>métodos e técnicas disponíveis </a:t>
          </a:r>
          <a:r>
            <a:rPr lang="pt-PT" sz="2400" kern="1200" dirty="0"/>
            <a:t>e possibilita uma </a:t>
          </a:r>
          <a:r>
            <a:rPr lang="pt-PT" sz="2400" u="sng" kern="1200" dirty="0"/>
            <a:t>maior compreensão do aluno </a:t>
          </a:r>
          <a:r>
            <a:rPr lang="pt-PT" sz="2400" kern="1200" dirty="0"/>
            <a:t>na aquisição desse comportamento (tarefa da condução).</a:t>
          </a:r>
        </a:p>
      </dsp:txBody>
      <dsp:txXfrm>
        <a:off x="64425" y="1503141"/>
        <a:ext cx="9746670" cy="11909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A0A90-C7AB-4891-9FC0-F441817925C1}">
      <dsp:nvSpPr>
        <dsp:cNvPr id="0" name=""/>
        <dsp:cNvSpPr/>
      </dsp:nvSpPr>
      <dsp:spPr>
        <a:xfrm>
          <a:off x="0" y="8533"/>
          <a:ext cx="10297144" cy="9910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b="1" u="sng" kern="1200" dirty="0"/>
            <a:t>Todos</a:t>
          </a:r>
          <a:r>
            <a:rPr lang="pt-PT" sz="2300" b="1" kern="1200" dirty="0"/>
            <a:t> aqueles que actuam no processo aprendizagem devem conhecer os princípios básicos com vista ao sucesso da aprendizagem.</a:t>
          </a:r>
          <a:endParaRPr lang="pt-PT" sz="2300" kern="1200" dirty="0"/>
        </a:p>
      </dsp:txBody>
      <dsp:txXfrm>
        <a:off x="48379" y="56912"/>
        <a:ext cx="10200386" cy="8942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3DD18-1BAD-403C-872C-111D5C496A8C}">
      <dsp:nvSpPr>
        <dsp:cNvPr id="0" name=""/>
        <dsp:cNvSpPr/>
      </dsp:nvSpPr>
      <dsp:spPr>
        <a:xfrm>
          <a:off x="0" y="51871"/>
          <a:ext cx="10945216" cy="215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b="1" kern="1200" dirty="0"/>
            <a:t>Portaria 185/2015, art.º 10 nº1   </a:t>
          </a:r>
        </a:p>
        <a:p>
          <a:pPr marL="0" lvl="0" indent="0" algn="just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b="1" kern="1200" dirty="0"/>
            <a:t> </a:t>
          </a:r>
          <a:r>
            <a:rPr lang="pt-PT" sz="2300" b="1" u="sng" kern="1200" dirty="0"/>
            <a:t>O instrutor, em colaboração com o diretor </a:t>
          </a:r>
          <a:r>
            <a:rPr lang="pt-PT" sz="2300" b="1" kern="1200" dirty="0"/>
            <a:t>de escola de condução, </a:t>
          </a:r>
          <a:r>
            <a:rPr lang="pt-PT" sz="2300" b="1" kern="1200" dirty="0">
              <a:solidFill>
                <a:srgbClr val="FF0000"/>
              </a:solidFill>
            </a:rPr>
            <a:t>deve planificar cada módulo de formação teórico e prático</a:t>
          </a:r>
          <a:r>
            <a:rPr lang="pt-PT" sz="2300" b="1" kern="1200" dirty="0"/>
            <a:t>, </a:t>
          </a:r>
          <a:r>
            <a:rPr lang="pt-PT" sz="2300" b="1" u="sng" kern="1200" dirty="0"/>
            <a:t>especificando os objetivos de formação, os recursos ou meios a utilizar, métodos e técnicas pedagógicas a adotar e critérios de avaliação formativa.</a:t>
          </a:r>
          <a:endParaRPr lang="pt-PT" sz="2300" u="sng" kern="1200" dirty="0"/>
        </a:p>
      </dsp:txBody>
      <dsp:txXfrm>
        <a:off x="105091" y="156962"/>
        <a:ext cx="10735034" cy="1942618"/>
      </dsp:txXfrm>
    </dsp:sp>
    <dsp:sp modelId="{1C39BE88-A29F-4671-9F0C-074F16669447}">
      <dsp:nvSpPr>
        <dsp:cNvPr id="0" name=""/>
        <dsp:cNvSpPr/>
      </dsp:nvSpPr>
      <dsp:spPr>
        <a:xfrm>
          <a:off x="0" y="2270912"/>
          <a:ext cx="10945216" cy="215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/>
            <a:t>Lei 14/2014 art.º 4 alínea a)  </a:t>
          </a:r>
        </a:p>
        <a:p>
          <a:pPr marL="0" lvl="0" indent="0" algn="just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/>
            <a:t> </a:t>
          </a:r>
          <a:r>
            <a:rPr lang="pt-PT" sz="2300" b="1" kern="1200" dirty="0">
              <a:solidFill>
                <a:srgbClr val="FF0000"/>
              </a:solidFill>
            </a:rPr>
            <a:t>Ensino da condução </a:t>
          </a:r>
          <a:r>
            <a:rPr lang="pt-PT" sz="2300" kern="1200" dirty="0"/>
            <a:t>— </a:t>
          </a:r>
          <a:r>
            <a:rPr lang="pt-PT" sz="2300" b="1" kern="1200" dirty="0"/>
            <a:t>o ensino teórico e prático </a:t>
          </a:r>
          <a:r>
            <a:rPr lang="pt-PT" sz="2300" b="1" u="sng" kern="1200" dirty="0"/>
            <a:t>com vista à aquisição ou reaquisição de competências para a condução em segurança</a:t>
          </a:r>
          <a:r>
            <a:rPr lang="pt-PT" sz="2300" b="1" kern="1200" dirty="0"/>
            <a:t>;</a:t>
          </a:r>
        </a:p>
      </dsp:txBody>
      <dsp:txXfrm>
        <a:off x="105091" y="2376003"/>
        <a:ext cx="10735034" cy="19426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F6A5D-0951-40F5-80EB-2A6B1A23A095}">
      <dsp:nvSpPr>
        <dsp:cNvPr id="0" name=""/>
        <dsp:cNvSpPr/>
      </dsp:nvSpPr>
      <dsp:spPr>
        <a:xfrm>
          <a:off x="0" y="673222"/>
          <a:ext cx="11017224" cy="31180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 dirty="0"/>
            <a:t>Lei 14/2014 art.º 35 alínea c  </a:t>
          </a:r>
        </a:p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 </a:t>
          </a:r>
          <a:r>
            <a:rPr lang="pt-PT" sz="4000" b="1" kern="1200" dirty="0"/>
            <a:t>É dever do Instrutor, Aplicar, correcta e completamente, os conteúdos programáticos em vigor</a:t>
          </a:r>
          <a:r>
            <a:rPr lang="pt-PT" sz="4000" kern="1200" dirty="0"/>
            <a:t>, utilizando os </a:t>
          </a:r>
          <a:r>
            <a:rPr lang="pt-PT" sz="4000" b="1" kern="1200" dirty="0"/>
            <a:t>métodos e técnicas de ensino e o material didáctico adequados.</a:t>
          </a:r>
          <a:endParaRPr lang="pt-PT" sz="4000" kern="1200" dirty="0"/>
        </a:p>
      </dsp:txBody>
      <dsp:txXfrm>
        <a:off x="152211" y="825433"/>
        <a:ext cx="10712802" cy="28136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5967B5-8772-43D8-BBD2-97A74A5989F6}">
      <dsp:nvSpPr>
        <dsp:cNvPr id="0" name=""/>
        <dsp:cNvSpPr/>
      </dsp:nvSpPr>
      <dsp:spPr>
        <a:xfrm>
          <a:off x="0" y="578079"/>
          <a:ext cx="10621180" cy="28898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 dirty="0"/>
            <a:t>Lei 14/2014 Artigo 52.º</a:t>
          </a:r>
        </a:p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 dirty="0"/>
            <a:t>A direcção de escola de condução é exercida por um </a:t>
          </a:r>
          <a:r>
            <a:rPr lang="pt-PT" sz="3600" u="sng" kern="1200" dirty="0"/>
            <a:t>director </a:t>
          </a:r>
          <a:r>
            <a:rPr lang="pt-PT" sz="3600" kern="1200" dirty="0"/>
            <a:t>habilitado, a quem </a:t>
          </a:r>
          <a:r>
            <a:rPr lang="pt-PT" sz="3600" u="sng" kern="1200" dirty="0"/>
            <a:t>compete</a:t>
          </a:r>
          <a:r>
            <a:rPr lang="pt-PT" sz="3600" kern="1200" dirty="0"/>
            <a:t>, essencialmente, a </a:t>
          </a:r>
          <a:r>
            <a:rPr lang="pt-PT" sz="3600" b="1" kern="1200" dirty="0"/>
            <a:t>coordenação pedagógica do ensino de condução</a:t>
          </a:r>
          <a:r>
            <a:rPr lang="pt-PT" sz="3600" kern="1200" dirty="0"/>
            <a:t>, para além da </a:t>
          </a:r>
          <a:r>
            <a:rPr lang="pt-PT" sz="3600" b="1" kern="1200" dirty="0"/>
            <a:t>gestão corrente da escola</a:t>
          </a:r>
          <a:r>
            <a:rPr lang="pt-PT" sz="3600" kern="1200" dirty="0"/>
            <a:t>.</a:t>
          </a:r>
        </a:p>
      </dsp:txBody>
      <dsp:txXfrm>
        <a:off x="141073" y="719152"/>
        <a:ext cx="10339034" cy="2607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73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802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76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8983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670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849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242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26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389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59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428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53F294AC-A8AD-427D-967B-85E2BFBC0D54}" type="datetimeFigureOut">
              <a:rPr lang="pt-PT" smtClean="0"/>
              <a:t>28/12/2024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D7F4FF6-009F-4554-A955-311FA77684D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212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RaIPSZzCWk?feature=shared" TargetMode="External"/><Relationship Id="rId2" Type="http://schemas.openxmlformats.org/officeDocument/2006/relationships/hyperlink" Target="https://youtu.be/c3E0bLVUxiw?feature=share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n41Y3ZwL4I4?feature=shared" TargetMode="External"/><Relationship Id="rId4" Type="http://schemas.openxmlformats.org/officeDocument/2006/relationships/hyperlink" Target="https://www.youtube.com/watch?v=OqAtaUqIU5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gD_G0_5EYE?feature=shared" TargetMode="External"/><Relationship Id="rId2" Type="http://schemas.openxmlformats.org/officeDocument/2006/relationships/hyperlink" Target="https://youtu.be/j_0BOJO4YEM?feature=share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2.em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diagramLayout" Target="../diagrams/layout5.xml"/><Relationship Id="rId7" Type="http://schemas.openxmlformats.org/officeDocument/2006/relationships/image" Target="../media/image15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diagramLayout" Target="../diagrams/layout6.xml"/><Relationship Id="rId7" Type="http://schemas.openxmlformats.org/officeDocument/2006/relationships/image" Target="../media/image16.em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Berta%20Duarte\Desktop\Principe%20das%20Beiras\Curso%20de%20instrutores\Apresenta&#231;&#245;es\Avalia&#231;&#227;o%20e%20Aprendizagem.ppt#-1,1, Forma&#231;&#227;o  e  Avalia&#231;&#227;o  da  Condu&#231;&#227;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 dirty="0"/>
              <a:t>PSICOLOGIA E PEDAGOGIA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Formação de Instrutores de Condução Automóvel</a:t>
            </a:r>
          </a:p>
        </p:txBody>
      </p:sp>
    </p:spTree>
    <p:extLst>
      <p:ext uri="{BB962C8B-B14F-4D97-AF65-F5344CB8AC3E}">
        <p14:creationId xmlns:p14="http://schemas.microsoft.com/office/powerpoint/2010/main" val="83286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6ADF0-9749-7F4E-29FE-62B9A7AC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3A1580F-4394-A682-468F-1EA23DBAA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>
                <a:hlinkClick r:id="rId2"/>
              </a:rPr>
              <a:t>https://youtu.be/c3E0bLVUxiw?feature=shared</a:t>
            </a:r>
            <a:endParaRPr lang="pt-PT" dirty="0"/>
          </a:p>
          <a:p>
            <a:r>
              <a:rPr lang="pt-PT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O que é ANDRAGOGIA?</a:t>
            </a:r>
          </a:p>
          <a:p>
            <a:endParaRPr lang="pt-PT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endParaRPr lang="pt-PT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4BF9DE1-0D8F-F655-5732-5D73162C5B15}"/>
              </a:ext>
            </a:extLst>
          </p:cNvPr>
          <p:cNvSpPr txBox="1"/>
          <p:nvPr/>
        </p:nvSpPr>
        <p:spPr>
          <a:xfrm>
            <a:off x="3047215" y="324669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hlinkClick r:id="rId3"/>
              </a:rPr>
              <a:t>https://youtu.be/VRaIPSZzCWk?feature=shared</a:t>
            </a:r>
            <a:endParaRPr lang="pt-PT" dirty="0"/>
          </a:p>
          <a:p>
            <a:endParaRPr lang="pt-PT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DC1F198-A1DD-2960-D0C5-74A1EC059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PT" altLang="pt-PT" sz="800" b="0" i="0" u="none" strike="noStrike" cap="none" normalizeH="0" baseline="0">
                <a:ln>
                  <a:noFill/>
                </a:ln>
                <a:solidFill>
                  <a:srgbClr val="EEEEEE"/>
                </a:solidFill>
                <a:effectLst/>
                <a:latin typeface="YouTube Noto"/>
              </a:rPr>
            </a:br>
            <a:endParaRPr kumimoji="0" lang="pt-PT" altLang="pt-PT" sz="800" b="0" i="0" u="none" strike="noStrike" cap="none" normalizeH="0" baseline="0">
              <a:ln>
                <a:noFill/>
              </a:ln>
              <a:solidFill>
                <a:srgbClr val="EEEEEE"/>
              </a:solidFill>
              <a:effectLst/>
              <a:latin typeface="YouTube No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hlinkClick r:id="rId4" tooltip="Seguinte (SHIFT+n)"/>
            <a:extLst>
              <a:ext uri="{FF2B5EF4-FFF2-40B4-BE49-F238E27FC236}">
                <a16:creationId xmlns:a16="http://schemas.microsoft.com/office/drawing/2014/main" id="{96F4C859-9739-0894-B7A0-9CE7BBF81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0259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D47FB48-DFA0-C57E-3616-C25874D21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584" y="3689539"/>
            <a:ext cx="7272808" cy="8463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9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YouTube Noto"/>
              </a:rPr>
              <a:t>4:02 / 17:12</a:t>
            </a:r>
            <a:endParaRPr kumimoji="0" lang="pt-PT" altLang="pt-PT" sz="800" b="0" i="0" u="none" strike="noStrike" cap="none" normalizeH="0" baseline="0" dirty="0">
              <a:ln>
                <a:noFill/>
              </a:ln>
              <a:solidFill>
                <a:srgbClr val="EEEEEE"/>
              </a:solidFill>
              <a:effectLst/>
              <a:latin typeface="YouTube No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6 princípios e 5 armadilhas da </a:t>
            </a:r>
            <a:r>
              <a:rPr kumimoji="0" lang="pt-PT" altLang="pt-P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Andragogia</a:t>
            </a:r>
            <a:r>
              <a:rPr kumimoji="0" lang="pt-PT" altLang="pt-P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a arte e a ciência de ensinar para adultos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F373AA-361D-A41F-CCB2-A5178190AA6F}"/>
              </a:ext>
            </a:extLst>
          </p:cNvPr>
          <p:cNvSpPr txBox="1"/>
          <p:nvPr/>
        </p:nvSpPr>
        <p:spPr>
          <a:xfrm>
            <a:off x="1471936" y="3689539"/>
            <a:ext cx="95770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4:02 / 17:12</a:t>
            </a:r>
          </a:p>
          <a:p>
            <a:r>
              <a:rPr lang="pt-PT">
                <a:hlinkClick r:id="rId5"/>
              </a:rPr>
              <a:t>https://youtu.be/n41Y3ZwL4I4?feature=shared</a:t>
            </a:r>
            <a:endParaRPr lang="pt-PT"/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6 princípios e 5 armadilhas da </a:t>
            </a:r>
            <a:r>
              <a:rPr lang="pt-PT" dirty="0" err="1"/>
              <a:t>Andragogia</a:t>
            </a:r>
            <a:r>
              <a:rPr lang="pt-PT" dirty="0"/>
              <a:t>, a arte e a ciência de ensinar para adultos</a:t>
            </a:r>
          </a:p>
        </p:txBody>
      </p:sp>
    </p:spTree>
    <p:extLst>
      <p:ext uri="{BB962C8B-B14F-4D97-AF65-F5344CB8AC3E}">
        <p14:creationId xmlns:p14="http://schemas.microsoft.com/office/powerpoint/2010/main" val="6342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5E30A-54A1-2262-4BA9-89CDC00A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87296AC-50F7-F67D-01E1-2B7BE577C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>
                <a:hlinkClick r:id="rId2"/>
              </a:rPr>
              <a:t>https://youtu.be/j_0BOJO4YEM?feature=shared</a:t>
            </a:r>
            <a:endParaRPr lang="pt-PT" dirty="0"/>
          </a:p>
          <a:p>
            <a:r>
              <a:rPr lang="pt-PT" dirty="0"/>
              <a:t>INTERPRETATIVISMO E CONSTRUTIVISMO</a:t>
            </a:r>
          </a:p>
          <a:p>
            <a:endParaRPr lang="pt-PT" dirty="0"/>
          </a:p>
          <a:p>
            <a:r>
              <a:rPr lang="pt-PT" dirty="0">
                <a:hlinkClick r:id="rId3"/>
              </a:rPr>
              <a:t>https://youtu.be/lgD_G0_5EYE?feature=shared</a:t>
            </a:r>
            <a:endParaRPr lang="pt-PT" dirty="0"/>
          </a:p>
          <a:p>
            <a:r>
              <a:rPr lang="pt-PT"/>
              <a:t>METODOLOGIAS ATIVAS: TURBINANDO A APRENDIZAGEM EM AULA</a:t>
            </a:r>
          </a:p>
        </p:txBody>
      </p:sp>
    </p:spTree>
    <p:extLst>
      <p:ext uri="{BB962C8B-B14F-4D97-AF65-F5344CB8AC3E}">
        <p14:creationId xmlns:p14="http://schemas.microsoft.com/office/powerpoint/2010/main" val="16783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Psicologia e Pedagogia</a:t>
            </a:r>
            <a:br>
              <a:rPr lang="pt-PT" b="1" dirty="0"/>
            </a:br>
            <a:r>
              <a:rPr lang="pt-PT" b="1" dirty="0"/>
              <a:t> na Formação de Instrutores</a:t>
            </a:r>
            <a:endParaRPr lang="pt-P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2276872"/>
            <a:ext cx="3000375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2651596"/>
            <a:ext cx="1844256" cy="3016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766" y="2404057"/>
            <a:ext cx="3053690" cy="328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8679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solidFill>
                  <a:schemeClr val="accent6">
                    <a:lumMod val="75000"/>
                  </a:schemeClr>
                </a:solidFill>
              </a:rPr>
              <a:t>Psicologia </a:t>
            </a:r>
            <a:endParaRPr lang="pt-PT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236092"/>
              </p:ext>
            </p:extLst>
          </p:nvPr>
        </p:nvGraphicFramePr>
        <p:xfrm>
          <a:off x="1143000" y="2127921"/>
          <a:ext cx="9875520" cy="4253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9" y="332656"/>
            <a:ext cx="1628765" cy="179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eta curvada à direita 2"/>
          <p:cNvSpPr/>
          <p:nvPr/>
        </p:nvSpPr>
        <p:spPr>
          <a:xfrm>
            <a:off x="623392" y="4221088"/>
            <a:ext cx="360040" cy="100811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02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CBA199-56ED-44CA-8B01-2129EBF704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54CBA199-56ED-44CA-8B01-2129EBF704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54CBA199-56ED-44CA-8B01-2129EBF704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54CBA199-56ED-44CA-8B01-2129EBF704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CC4836-99BA-45A7-A3E7-800A7CC8F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graphicEl>
                                              <a:dgm id="{DBCC4836-99BA-45A7-A3E7-800A7CC8F4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dgm id="{DBCC4836-99BA-45A7-A3E7-800A7CC8F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graphicEl>
                                              <a:dgm id="{DBCC4836-99BA-45A7-A3E7-800A7CC8F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78D038-A0A7-47C0-B0D4-472E135C8C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graphicEl>
                                              <a:dgm id="{6B78D038-A0A7-47C0-B0D4-472E135C8C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graphicEl>
                                              <a:dgm id="{6B78D038-A0A7-47C0-B0D4-472E135C8C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6B78D038-A0A7-47C0-B0D4-472E135C8C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solidFill>
                  <a:schemeClr val="accent6">
                    <a:lumMod val="75000"/>
                  </a:schemeClr>
                </a:solidFill>
              </a:rPr>
              <a:t>Psicologia</a:t>
            </a:r>
            <a:endParaRPr lang="pt-PT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1353892" y="3856113"/>
            <a:ext cx="9453736" cy="27412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b="1" dirty="0"/>
          </a:p>
          <a:p>
            <a:pPr marL="0" indent="0">
              <a:buNone/>
            </a:pPr>
            <a:endParaRPr lang="pt-PT" b="1" dirty="0"/>
          </a:p>
          <a:p>
            <a:pPr marL="0" indent="0">
              <a:buNone/>
            </a:pPr>
            <a:endParaRPr lang="pt-PT" b="1" dirty="0"/>
          </a:p>
          <a:p>
            <a:pPr marL="0" indent="0" algn="just">
              <a:buNone/>
            </a:pPr>
            <a:r>
              <a:rPr lang="pt-PT" b="1" dirty="0"/>
              <a:t>“A psicologia reúne tudo aquilo que o Homem sente, tudo aquilo que pensa, tudo aquilo que ele quer, tudo aquilo que gosta, </a:t>
            </a:r>
            <a:r>
              <a:rPr lang="pt-PT" b="1" u="sng" dirty="0"/>
              <a:t>tudo aquilo que ele rejeita.”</a:t>
            </a:r>
            <a:endParaRPr lang="pt-PT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8" y="476672"/>
            <a:ext cx="1681781" cy="179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816" y="2713424"/>
            <a:ext cx="2952685" cy="2285378"/>
          </a:xfrm>
          <a:prstGeom prst="rect">
            <a:avLst/>
          </a:prstGeom>
        </p:spPr>
      </p:pic>
      <p:sp>
        <p:nvSpPr>
          <p:cNvPr id="5" name="Chamada em forma de nuvem 4"/>
          <p:cNvSpPr/>
          <p:nvPr/>
        </p:nvSpPr>
        <p:spPr>
          <a:xfrm>
            <a:off x="1415102" y="1777751"/>
            <a:ext cx="2448272" cy="2448272"/>
          </a:xfrm>
          <a:prstGeom prst="cloudCallout">
            <a:avLst>
              <a:gd name="adj1" fmla="val 71777"/>
              <a:gd name="adj2" fmla="val 2728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PT" b="1" dirty="0"/>
              <a:t>“Psicólogo, eu??!!!!! Não, obrigada, não sou maluca!”</a:t>
            </a:r>
          </a:p>
        </p:txBody>
      </p:sp>
    </p:spTree>
    <p:extLst>
      <p:ext uri="{BB962C8B-B14F-4D97-AF65-F5344CB8AC3E}">
        <p14:creationId xmlns:p14="http://schemas.microsoft.com/office/powerpoint/2010/main" val="411262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99596"/>
            <a:ext cx="9036496" cy="4987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4488" y="332656"/>
            <a:ext cx="9875520" cy="1356360"/>
          </a:xfrm>
        </p:spPr>
        <p:txBody>
          <a:bodyPr/>
          <a:lstStyle/>
          <a:p>
            <a:r>
              <a:rPr lang="pt-PT" b="1" dirty="0">
                <a:solidFill>
                  <a:schemeClr val="accent6">
                    <a:lumMod val="75000"/>
                  </a:schemeClr>
                </a:solidFill>
              </a:rPr>
              <a:t>Psicologia</a:t>
            </a:r>
            <a:endParaRPr lang="pt-PT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96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Psicologia – “o que isto poderia ser”</a:t>
            </a:r>
            <a:endParaRPr lang="pt-PT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" b="3011"/>
          <a:stretch/>
        </p:blipFill>
        <p:spPr bwMode="auto">
          <a:xfrm>
            <a:off x="2351584" y="1595063"/>
            <a:ext cx="6373014" cy="3956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958231506"/>
              </p:ext>
            </p:extLst>
          </p:nvPr>
        </p:nvGraphicFramePr>
        <p:xfrm>
          <a:off x="695400" y="5517232"/>
          <a:ext cx="10585176" cy="947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626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836712"/>
            <a:ext cx="4104455" cy="4888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9CC09C5-C3E8-C572-2D02-5EF52B2AC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776414"/>
            <a:ext cx="4968552" cy="49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51ADC4C-A09A-2716-0AAF-55827BB13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620688"/>
            <a:ext cx="9245827" cy="57786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3D5E461-1D4C-1867-6868-2EA75D8750CF}"/>
              </a:ext>
            </a:extLst>
          </p:cNvPr>
          <p:cNvSpPr txBox="1"/>
          <p:nvPr/>
        </p:nvSpPr>
        <p:spPr>
          <a:xfrm>
            <a:off x="378565" y="3068960"/>
            <a:ext cx="197301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0" i="0" dirty="0">
                <a:solidFill>
                  <a:srgbClr val="676767"/>
                </a:solidFill>
                <a:effectLst/>
                <a:latin typeface="Tahoma" panose="020B0604030504040204" pitchFamily="34" charset="0"/>
              </a:rPr>
              <a:t>A coruja é frequentemente utilizada para representar essa profissão, por remeter a inteligência, astúcia, sensibilidade e sabedoria, este símbolo é da Filosofia e outras licenciaturas.</a:t>
            </a:r>
            <a:endParaRPr lang="pt-PT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F05C41-12A8-0870-9AC7-EBA6C33AF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511" y="67267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5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2549A5-05B4-D7D8-EB81-2A6B71EDD308}"/>
              </a:ext>
            </a:extLst>
          </p:cNvPr>
          <p:cNvSpPr txBox="1"/>
          <p:nvPr/>
        </p:nvSpPr>
        <p:spPr>
          <a:xfrm>
            <a:off x="1199456" y="1268760"/>
            <a:ext cx="97930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pt-PT" b="0" i="0" dirty="0">
                <a:solidFill>
                  <a:srgbClr val="676767"/>
                </a:solidFill>
                <a:effectLst/>
                <a:latin typeface="Tahoma" panose="020B0604030504040204" pitchFamily="34" charset="0"/>
              </a:rPr>
              <a:t>A coruja é frequentemente utilizada para representar essa profissão, por remeter a inteligência, astúcia, sensibilidade e sabedoria, este símbolo é da Filosofia e outras licenciaturas. </a:t>
            </a:r>
          </a:p>
          <a:p>
            <a:pPr algn="just" fontAlgn="base"/>
            <a:r>
              <a:rPr lang="pt-PT" b="0" i="0" dirty="0">
                <a:solidFill>
                  <a:srgbClr val="676767"/>
                </a:solidFill>
                <a:effectLst/>
                <a:latin typeface="Tahoma" panose="020B0604030504040204" pitchFamily="34" charset="0"/>
              </a:rPr>
              <a:t>Na verdade, o símbolo do curso de Pedagogia é o Caduceu de Hermes à frente de uma Flor-de-Lis verde.</a:t>
            </a:r>
          </a:p>
          <a:p>
            <a:pPr algn="just" fontAlgn="base"/>
            <a:r>
              <a:rPr lang="pt-PT" b="0" i="0" dirty="0">
                <a:solidFill>
                  <a:srgbClr val="676767"/>
                </a:solidFill>
                <a:effectLst/>
                <a:latin typeface="Tahoma" panose="020B0604030504040204" pitchFamily="34" charset="0"/>
              </a:rPr>
              <a:t>Os símbolos possuem a sua importância porque fazem parte da identidade de um grupo. Dessa forma, representa a identidade dos profissionais das mais diversas áreas do conhecimento humano que possuem os seus respetivos símbolos. No caso do curso de Pedagogia, o símbolo foi inspirado nos Romanos, que utilizavam o Caduceu como representação do equilíbrio moral e boa conduta.</a:t>
            </a:r>
          </a:p>
          <a:p>
            <a:pPr algn="just" fontAlgn="base"/>
            <a:r>
              <a:rPr lang="pt-PT" b="0" i="0" dirty="0">
                <a:solidFill>
                  <a:srgbClr val="676767"/>
                </a:solidFill>
                <a:effectLst/>
                <a:latin typeface="Tahoma" panose="020B0604030504040204" pitchFamily="34" charset="0"/>
              </a:rPr>
              <a:t>O Caduceu é um tipo de bastão vertical com asas, enrolado por duas serpentes, que representa o poder do profissional, sua capacidade de trazer mudanças. As asas revelam o equilíbrio dessa transformação, bem como a qualidade do profissional de Pedagogia, que deve ser ágil e disponível. As serpentes entrelaçadas em torno do bastão representam o conhecimento e a sabedoria. A cor dourada é a representação da luz do saber e, por fim, a Flor-de-Lis representa a orientação.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444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Pedagogia </a:t>
            </a:r>
            <a:endParaRPr lang="pt-PT" dirty="0"/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323605"/>
              </p:ext>
            </p:extLst>
          </p:nvPr>
        </p:nvGraphicFramePr>
        <p:xfrm>
          <a:off x="1631504" y="2579724"/>
          <a:ext cx="9505056" cy="4137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781" y="250222"/>
            <a:ext cx="3050671" cy="274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eta curvada à direita 2"/>
          <p:cNvSpPr/>
          <p:nvPr/>
        </p:nvSpPr>
        <p:spPr>
          <a:xfrm>
            <a:off x="746956" y="4437112"/>
            <a:ext cx="792088" cy="151216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CA47100-FF2D-4595-9A76-08FB22C66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9CA47100-FF2D-4595-9A76-08FB22C66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9CA47100-FF2D-4595-9A76-08FB22C66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2897D3-1BA9-48FE-8386-A24847A70C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542897D3-1BA9-48FE-8386-A24847A70C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542897D3-1BA9-48FE-8386-A24847A70C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CAE666-D3A6-452B-8DF3-C86ED3AE9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59CAE666-D3A6-452B-8DF3-C86ED3AE9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59CAE666-D3A6-452B-8DF3-C86ED3AE9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161345"/>
              </p:ext>
            </p:extLst>
          </p:nvPr>
        </p:nvGraphicFramePr>
        <p:xfrm>
          <a:off x="788172" y="1899321"/>
          <a:ext cx="10585176" cy="4349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FB0829B6-5266-7BBA-6A51-1E85E6FCB8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1544" y="399906"/>
            <a:ext cx="1464662" cy="14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4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964E1F-637B-4819-8281-050B746B0E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B4964E1F-637B-4819-8281-050B746B0E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B4964E1F-637B-4819-8281-050B746B0E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9CD3B48-9FC9-4C9F-A3C7-1A253DC02D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29CD3B48-9FC9-4C9F-A3C7-1A253DC02D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29CD3B48-9FC9-4C9F-A3C7-1A253DC02D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468413-E036-41DE-BB83-FD19C0F74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D8468413-E036-41DE-BB83-FD19C0F74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D8468413-E036-41DE-BB83-FD19C0F740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B767A4-F1D6-4F49-A097-5D3D6C012A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5EB767A4-F1D6-4F49-A097-5D3D6C012A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5EB767A4-F1D6-4F49-A097-5D3D6C012A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991891" y="14127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pt-PT" b="1" dirty="0"/>
              <a:t>Contributo da</a:t>
            </a:r>
            <a:br>
              <a:rPr lang="pt-PT" b="1" dirty="0"/>
            </a:br>
            <a:r>
              <a:rPr lang="pt-PT" b="1" dirty="0"/>
              <a:t>Psicologia &amp; Pedagogia</a:t>
            </a:r>
            <a:endParaRPr lang="pt-PT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7" b="4823"/>
          <a:stretch/>
        </p:blipFill>
        <p:spPr bwMode="auto">
          <a:xfrm>
            <a:off x="2037392" y="2910018"/>
            <a:ext cx="7762462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Conexão recta 2"/>
          <p:cNvCxnSpPr/>
          <p:nvPr/>
        </p:nvCxnSpPr>
        <p:spPr>
          <a:xfrm flipV="1">
            <a:off x="1991891" y="3028312"/>
            <a:ext cx="7783964" cy="350378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Conexão recta 6"/>
          <p:cNvCxnSpPr/>
          <p:nvPr/>
        </p:nvCxnSpPr>
        <p:spPr>
          <a:xfrm flipH="1" flipV="1">
            <a:off x="2058894" y="3018030"/>
            <a:ext cx="7762462" cy="345638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35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Contributo da</a:t>
            </a:r>
            <a:br>
              <a:rPr lang="pt-PT" b="1" dirty="0"/>
            </a:br>
            <a:r>
              <a:rPr lang="pt-PT" b="1" dirty="0"/>
              <a:t>Psicologia &amp; Pedagogia</a:t>
            </a:r>
            <a:endParaRPr lang="pt-PT" dirty="0"/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010561"/>
              </p:ext>
            </p:extLst>
          </p:nvPr>
        </p:nvGraphicFramePr>
        <p:xfrm>
          <a:off x="1271464" y="2691770"/>
          <a:ext cx="10137576" cy="3700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2740" y="5629425"/>
            <a:ext cx="748727" cy="748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771" y="260648"/>
            <a:ext cx="1887893" cy="2150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eta curvada à direita 2"/>
          <p:cNvSpPr/>
          <p:nvPr/>
        </p:nvSpPr>
        <p:spPr>
          <a:xfrm>
            <a:off x="566936" y="4163404"/>
            <a:ext cx="576064" cy="151216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64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5C36F2F-8631-4A34-A6E4-CFA634DBB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45C36F2F-8631-4A34-A6E4-CFA634DBB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45C36F2F-8631-4A34-A6E4-CFA634DBB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D11CEE6-5EC1-412E-962D-ED6A8540E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D11CEE6-5EC1-412E-962D-ED6A8540E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BD11CEE6-5EC1-412E-962D-ED6A8540E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83452" y="692696"/>
            <a:ext cx="9875520" cy="1356360"/>
          </a:xfrm>
        </p:spPr>
        <p:txBody>
          <a:bodyPr>
            <a:normAutofit/>
          </a:bodyPr>
          <a:lstStyle/>
          <a:p>
            <a:r>
              <a:rPr lang="pt-PT" b="1" dirty="0"/>
              <a:t>Contributo da</a:t>
            </a:r>
            <a:br>
              <a:rPr lang="pt-PT" b="1" dirty="0"/>
            </a:br>
            <a:r>
              <a:rPr lang="pt-PT" b="1" dirty="0"/>
              <a:t>Psicologia &amp; Pedagogia</a:t>
            </a:r>
            <a:endParaRPr lang="pt-PT" dirty="0"/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577007"/>
              </p:ext>
            </p:extLst>
          </p:nvPr>
        </p:nvGraphicFramePr>
        <p:xfrm>
          <a:off x="1343472" y="2896345"/>
          <a:ext cx="10009112" cy="341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628" y="391084"/>
            <a:ext cx="3096344" cy="1793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33" y="348535"/>
            <a:ext cx="1290638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eta curvada à direita 2"/>
          <p:cNvSpPr/>
          <p:nvPr/>
        </p:nvSpPr>
        <p:spPr>
          <a:xfrm>
            <a:off x="623392" y="4149080"/>
            <a:ext cx="645319" cy="165618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31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37725D1-EB0E-4EC8-890C-47A7F65EB5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237725D1-EB0E-4EC8-890C-47A7F65EB5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237725D1-EB0E-4EC8-890C-47A7F65EB5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C38EDD-771C-4926-9FCC-C8276D7B4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61C38EDD-771C-4926-9FCC-C8276D7B4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61C38EDD-771C-4926-9FCC-C8276D7B4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Contributo da</a:t>
            </a:r>
            <a:br>
              <a:rPr lang="pt-PT" b="1" dirty="0"/>
            </a:br>
            <a:r>
              <a:rPr lang="pt-PT" b="1" dirty="0"/>
              <a:t>Psicologia &amp; Pedagogia</a:t>
            </a:r>
            <a:endParaRPr lang="pt-PT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774" y="523652"/>
            <a:ext cx="3305250" cy="2317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1195803589"/>
              </p:ext>
            </p:extLst>
          </p:nvPr>
        </p:nvGraphicFramePr>
        <p:xfrm>
          <a:off x="1510504" y="3717032"/>
          <a:ext cx="9875520" cy="280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eta curvada à direita 2"/>
          <p:cNvSpPr/>
          <p:nvPr/>
        </p:nvSpPr>
        <p:spPr>
          <a:xfrm>
            <a:off x="335360" y="4520208"/>
            <a:ext cx="1014575" cy="1728192"/>
          </a:xfrm>
          <a:prstGeom prst="curvedRightArrow">
            <a:avLst>
              <a:gd name="adj1" fmla="val 25000"/>
              <a:gd name="adj2" fmla="val 50000"/>
              <a:gd name="adj3" fmla="val 379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11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A2D2ECB-2EF3-4F32-AF43-A10BAA4F0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1A2D2ECB-2EF3-4F32-AF43-A10BAA4F0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1A2D2ECB-2EF3-4F32-AF43-A10BAA4F0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1A2D2ECB-2EF3-4F32-AF43-A10BAA4F0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B781746-1295-4FD1-856C-79E282AACD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graphicEl>
                                              <a:dgm id="{1B781746-1295-4FD1-856C-79E282AACD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dgm id="{1B781746-1295-4FD1-856C-79E282AACD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graphicEl>
                                              <a:dgm id="{1B781746-1295-4FD1-856C-79E282AACD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4" y="1657369"/>
            <a:ext cx="7271904" cy="3697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677327755"/>
              </p:ext>
            </p:extLst>
          </p:nvPr>
        </p:nvGraphicFramePr>
        <p:xfrm>
          <a:off x="911424" y="5373217"/>
          <a:ext cx="10297144" cy="1008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885321CD-C762-133E-69CC-338B9FB35E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029" y="476672"/>
            <a:ext cx="259228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58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Psicopedagogia &amp; Instrutor de</a:t>
            </a:r>
            <a:br>
              <a:rPr lang="pt-PT" b="1" dirty="0"/>
            </a:br>
            <a:r>
              <a:rPr lang="pt-PT" b="1" dirty="0"/>
              <a:t>condução automóvel</a:t>
            </a:r>
            <a:endParaRPr lang="pt-PT" dirty="0"/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011780"/>
              </p:ext>
            </p:extLst>
          </p:nvPr>
        </p:nvGraphicFramePr>
        <p:xfrm>
          <a:off x="623392" y="1965960"/>
          <a:ext cx="10945216" cy="4475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285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Psicopedagogia &amp; Instrutor de</a:t>
            </a:r>
            <a:br>
              <a:rPr lang="pt-PT" b="1" dirty="0"/>
            </a:br>
            <a:r>
              <a:rPr lang="pt-PT" b="1" dirty="0"/>
              <a:t>condução automóvel</a:t>
            </a:r>
            <a:endParaRPr lang="pt-PT" dirty="0"/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101470"/>
              </p:ext>
            </p:extLst>
          </p:nvPr>
        </p:nvGraphicFramePr>
        <p:xfrm>
          <a:off x="695400" y="1916832"/>
          <a:ext cx="11017224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5221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Psicopedagogia &amp; Director</a:t>
            </a:r>
            <a:br>
              <a:rPr lang="pt-PT" b="1" dirty="0"/>
            </a:br>
            <a:r>
              <a:rPr lang="pt-PT" b="1" dirty="0"/>
              <a:t>escola condução</a:t>
            </a:r>
            <a:endParaRPr lang="pt-PT" dirty="0"/>
          </a:p>
        </p:txBody>
      </p:sp>
      <p:graphicFrame>
        <p:nvGraphicFramePr>
          <p:cNvPr id="4" name="Marcador de Posição de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174061"/>
              </p:ext>
            </p:extLst>
          </p:nvPr>
        </p:nvGraphicFramePr>
        <p:xfrm>
          <a:off x="623392" y="2119245"/>
          <a:ext cx="10621180" cy="4046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628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440" y="368882"/>
            <a:ext cx="9875520" cy="1356360"/>
          </a:xfrm>
        </p:spPr>
        <p:txBody>
          <a:bodyPr>
            <a:normAutofit/>
          </a:bodyPr>
          <a:lstStyle/>
          <a:p>
            <a:r>
              <a:rPr lang="pt-PT" b="1" dirty="0"/>
              <a:t>Psicopedagogia &amp; Director</a:t>
            </a:r>
            <a:br>
              <a:rPr lang="pt-PT" b="1" dirty="0"/>
            </a:br>
            <a:r>
              <a:rPr lang="pt-PT" b="1" dirty="0"/>
              <a:t>escola condução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1559496" y="1916832"/>
            <a:ext cx="8939416" cy="3816424"/>
          </a:xfrm>
          <a:solidFill>
            <a:schemeClr val="accent1">
              <a:lumMod val="20000"/>
              <a:lumOff val="80000"/>
            </a:schemeClr>
          </a:solidFill>
          <a:ln w="38100">
            <a:noFill/>
          </a:ln>
        </p:spPr>
        <p:txBody>
          <a:bodyPr>
            <a:normAutofit/>
          </a:bodyPr>
          <a:lstStyle/>
          <a:p>
            <a:pPr marL="0" indent="0">
              <a:buClr>
                <a:srgbClr val="002060"/>
              </a:buClr>
              <a:buNone/>
            </a:pPr>
            <a:r>
              <a:rPr lang="pt-PT" b="1" dirty="0"/>
              <a:t>Coordenação pedagógica do ensino de condução:</a:t>
            </a:r>
          </a:p>
          <a:p>
            <a:pPr marL="0" indent="0">
              <a:buClr>
                <a:srgbClr val="002060"/>
              </a:buClr>
              <a:buNone/>
            </a:pPr>
            <a:endParaRPr lang="pt-PT" b="1" dirty="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pt-PT" dirty="0"/>
              <a:t> Saber perceber o comportamento do condutor;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pt-PT" dirty="0"/>
              <a:t>Orientar pedagogicamente o ensino de candidatos a condutor;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pt-PT" dirty="0"/>
              <a:t> Saber gerir e liderar o processo de supervisão pedagógica.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pt-PT" dirty="0"/>
              <a:t> “Saber ser” um gestor de conhecimentos e de comportamentos;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pt-PT" dirty="0"/>
              <a:t>Saber gerir conflitos;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pt-PT" dirty="0"/>
              <a:t>Ser um líder eficaz;</a:t>
            </a:r>
          </a:p>
        </p:txBody>
      </p:sp>
      <p:sp>
        <p:nvSpPr>
          <p:cNvPr id="4" name="Botão de acção: personalizável 3">
            <a:hlinkClick r:id="rId2" action="ppaction://hlinkpres?slideindex=1&amp;slidetitle= Formação  e  Avaliação  da  Condução" highlightClick="1"/>
          </p:cNvPr>
          <p:cNvSpPr/>
          <p:nvPr/>
        </p:nvSpPr>
        <p:spPr>
          <a:xfrm>
            <a:off x="9480376" y="5949280"/>
            <a:ext cx="576064" cy="288032"/>
          </a:xfrm>
          <a:prstGeom prst="actionButtonBlank">
            <a:avLst/>
          </a:prstGeom>
          <a:solidFill>
            <a:schemeClr val="accent6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5973716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Base</Template>
  <TotalTime>416</TotalTime>
  <Words>1045</Words>
  <Application>Microsoft Office PowerPoint</Application>
  <PresentationFormat>Ecrã Panorâmico</PresentationFormat>
  <Paragraphs>81</Paragraphs>
  <Slides>22</Slides>
  <Notes>0</Notes>
  <HiddenSlides>1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9" baseType="lpstr">
      <vt:lpstr>Arial</vt:lpstr>
      <vt:lpstr>Corbel</vt:lpstr>
      <vt:lpstr>Roboto</vt:lpstr>
      <vt:lpstr>Tahoma</vt:lpstr>
      <vt:lpstr>Wingdings</vt:lpstr>
      <vt:lpstr>YouTube Noto</vt:lpstr>
      <vt:lpstr>Base</vt:lpstr>
      <vt:lpstr>PSICOLOGIA E PEDAGOGIA</vt:lpstr>
      <vt:lpstr>Apresentação do PowerPoint</vt:lpstr>
      <vt:lpstr>Apresentação do PowerPoint</vt:lpstr>
      <vt:lpstr>Psicologia e Pedagogia  na Formação de Instrutores</vt:lpstr>
      <vt:lpstr>Psicologia </vt:lpstr>
      <vt:lpstr>Psicologia</vt:lpstr>
      <vt:lpstr>Psicologia</vt:lpstr>
      <vt:lpstr>Psicologia – “o que isto poderia ser”</vt:lpstr>
      <vt:lpstr>Apresentação do PowerPoint</vt:lpstr>
      <vt:lpstr>Apresentação do PowerPoint</vt:lpstr>
      <vt:lpstr>Apresentação do PowerPoint</vt:lpstr>
      <vt:lpstr>Pedagogia </vt:lpstr>
      <vt:lpstr>Apresentação do PowerPoint</vt:lpstr>
      <vt:lpstr>Contributo da Psicologia &amp; Pedagogia</vt:lpstr>
      <vt:lpstr>Contributo da Psicologia &amp; Pedagogia</vt:lpstr>
      <vt:lpstr>Contributo da Psicologia &amp; Pedagogia</vt:lpstr>
      <vt:lpstr>Contributo da Psicologia &amp; Pedagogia</vt:lpstr>
      <vt:lpstr>Apresentação do PowerPoint</vt:lpstr>
      <vt:lpstr>Psicopedagogia &amp; Instrutor de condução automóvel</vt:lpstr>
      <vt:lpstr>Psicopedagogia &amp; Instrutor de condução automóvel</vt:lpstr>
      <vt:lpstr>Psicopedagogia &amp; Director escola condução</vt:lpstr>
      <vt:lpstr>Psicopedagogia &amp; Director escola condução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PSICOLOGIA E PEDAGOGIA</dc:title>
  <dc:creator>Berta Duarte</dc:creator>
  <cp:lastModifiedBy>Berta duarte</cp:lastModifiedBy>
  <cp:revision>34</cp:revision>
  <dcterms:created xsi:type="dcterms:W3CDTF">2017-10-24T18:21:23Z</dcterms:created>
  <dcterms:modified xsi:type="dcterms:W3CDTF">2024-12-28T16:05:31Z</dcterms:modified>
</cp:coreProperties>
</file>